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6" r:id="rId3"/>
    <p:sldMasterId id="2147483710" r:id="rId4"/>
    <p:sldMasterId id="2147483723" r:id="rId5"/>
  </p:sldMasterIdLst>
  <p:notesMasterIdLst>
    <p:notesMasterId r:id="rId14"/>
  </p:notesMasterIdLst>
  <p:sldIdLst>
    <p:sldId id="276" r:id="rId6"/>
    <p:sldId id="281" r:id="rId7"/>
    <p:sldId id="285" r:id="rId8"/>
    <p:sldId id="288" r:id="rId9"/>
    <p:sldId id="295" r:id="rId10"/>
    <p:sldId id="294" r:id="rId11"/>
    <p:sldId id="296" r:id="rId12"/>
    <p:sldId id="27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FF"/>
    <a:srgbClr val="CB2C30"/>
    <a:srgbClr val="494D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58" autoAdjust="0"/>
    <p:restoredTop sz="96120" autoAdjust="0"/>
  </p:normalViewPr>
  <p:slideViewPr>
    <p:cSldViewPr snapToGrid="0">
      <p:cViewPr varScale="1">
        <p:scale>
          <a:sx n="114" d="100"/>
          <a:sy n="114" d="100"/>
        </p:scale>
        <p:origin x="732" y="102"/>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6BAAD-1FB8-463E-98EC-4A9AB5876F30}" type="datetimeFigureOut">
              <a:rPr lang="en-US" smtClean="0"/>
              <a:t>24-May-24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A596D-E0A5-4850-848A-42B87D1D7570}" type="slidenum">
              <a:rPr lang="en-US" smtClean="0"/>
              <a:t>‹#›</a:t>
            </a:fld>
            <a:endParaRPr lang="en-US"/>
          </a:p>
        </p:txBody>
      </p:sp>
    </p:spTree>
    <p:extLst>
      <p:ext uri="{BB962C8B-B14F-4D97-AF65-F5344CB8AC3E}">
        <p14:creationId xmlns:p14="http://schemas.microsoft.com/office/powerpoint/2010/main" val="151818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54665" y="1632985"/>
            <a:ext cx="11125200" cy="3894138"/>
          </a:xfrm>
          <a:prstGeom prst="rect">
            <a:avLst/>
          </a:prstGeom>
        </p:spPr>
        <p:txBody>
          <a:bodyPr/>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2"/>
          <p:cNvSpPr>
            <a:spLocks noGrp="1"/>
          </p:cNvSpPr>
          <p:nvPr>
            <p:ph type="title"/>
          </p:nvPr>
        </p:nvSpPr>
        <p:spPr>
          <a:xfrm>
            <a:off x="533400" y="156654"/>
            <a:ext cx="11125200" cy="91503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470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33400" y="1632985"/>
            <a:ext cx="11125200" cy="2862755"/>
          </a:xfrm>
          <a:prstGeom prst="rect">
            <a:avLst/>
          </a:prstGeom>
        </p:spPr>
        <p:txBody>
          <a:bodyPr numCol="2"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2 Column Text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8"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392016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533400" y="1632985"/>
            <a:ext cx="11125200" cy="3894138"/>
          </a:xfrm>
          <a:prstGeom prst="rect">
            <a:avLst/>
          </a:prstGeom>
        </p:spPr>
        <p:txBody>
          <a:bodyPr numCol="3"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3 Column Text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6"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44992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 and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33400" y="1521169"/>
            <a:ext cx="2866541" cy="2775051"/>
          </a:xfrm>
          <a:prstGeom prst="rect">
            <a:avLst/>
          </a:prstGeom>
        </p:spPr>
        <p:txBody>
          <a:bodyPr/>
          <a:lstStyle/>
          <a:p>
            <a:r>
              <a:rPr lang="en-US"/>
              <a:t>Click icon to add picture</a:t>
            </a:r>
          </a:p>
        </p:txBody>
      </p:sp>
      <p:sp>
        <p:nvSpPr>
          <p:cNvPr id="13" name="Picture Placeholder 2"/>
          <p:cNvSpPr>
            <a:spLocks noGrp="1"/>
          </p:cNvSpPr>
          <p:nvPr>
            <p:ph type="pic" sz="quarter" idx="11"/>
          </p:nvPr>
        </p:nvSpPr>
        <p:spPr>
          <a:xfrm>
            <a:off x="4662729" y="1521169"/>
            <a:ext cx="2866541" cy="2775051"/>
          </a:xfrm>
          <a:prstGeom prst="rect">
            <a:avLst/>
          </a:prstGeom>
        </p:spPr>
        <p:txBody>
          <a:bodyPr/>
          <a:lstStyle/>
          <a:p>
            <a:r>
              <a:rPr lang="en-US"/>
              <a:t>Click icon to add picture</a:t>
            </a:r>
          </a:p>
        </p:txBody>
      </p:sp>
      <p:sp>
        <p:nvSpPr>
          <p:cNvPr id="14" name="Picture Placeholder 2"/>
          <p:cNvSpPr>
            <a:spLocks noGrp="1"/>
          </p:cNvSpPr>
          <p:nvPr>
            <p:ph type="pic" sz="quarter" idx="12"/>
          </p:nvPr>
        </p:nvSpPr>
        <p:spPr>
          <a:xfrm>
            <a:off x="8792059" y="1525788"/>
            <a:ext cx="2866541" cy="2775051"/>
          </a:xfrm>
          <a:prstGeom prst="rect">
            <a:avLst/>
          </a:prstGeom>
        </p:spPr>
        <p:txBody>
          <a:bodyPr/>
          <a:lstStyle/>
          <a:p>
            <a:r>
              <a:rPr lang="en-US"/>
              <a:t>Click icon to add picture</a:t>
            </a:r>
          </a:p>
        </p:txBody>
      </p:sp>
      <p:sp>
        <p:nvSpPr>
          <p:cNvPr id="4" name="Text Placeholder 3"/>
          <p:cNvSpPr>
            <a:spLocks noGrp="1"/>
          </p:cNvSpPr>
          <p:nvPr>
            <p:ph type="body" sz="quarter" idx="13" hasCustomPrompt="1"/>
          </p:nvPr>
        </p:nvSpPr>
        <p:spPr>
          <a:xfrm>
            <a:off x="533400" y="4425696"/>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8" name="Text Placeholder 3"/>
          <p:cNvSpPr>
            <a:spLocks noGrp="1"/>
          </p:cNvSpPr>
          <p:nvPr>
            <p:ph type="body" sz="quarter" idx="14" hasCustomPrompt="1"/>
          </p:nvPr>
        </p:nvSpPr>
        <p:spPr>
          <a:xfrm>
            <a:off x="4662488"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9" name="Text Placeholder 3"/>
          <p:cNvSpPr>
            <a:spLocks noGrp="1"/>
          </p:cNvSpPr>
          <p:nvPr>
            <p:ph type="body" sz="quarter" idx="15" hasCustomPrompt="1"/>
          </p:nvPr>
        </p:nvSpPr>
        <p:spPr>
          <a:xfrm>
            <a:off x="8791575"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0195864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and Photo">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658630" y="2231346"/>
            <a:ext cx="5800725" cy="916588"/>
          </a:xfrm>
          <a:prstGeom prst="rect">
            <a:avLst/>
          </a:prstGeom>
        </p:spPr>
        <p:txBody>
          <a:bodyPr/>
          <a:lstStyle>
            <a:lvl1pPr>
              <a:lnSpc>
                <a:spcPts val="3500"/>
              </a:lnSpc>
              <a:defRPr sz="320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6" name="Text Placeholder 10"/>
          <p:cNvSpPr>
            <a:spLocks noGrp="1"/>
          </p:cNvSpPr>
          <p:nvPr>
            <p:ph type="body" sz="quarter" idx="10" hasCustomPrompt="1"/>
          </p:nvPr>
        </p:nvSpPr>
        <p:spPr>
          <a:xfrm>
            <a:off x="658629" y="3498667"/>
            <a:ext cx="5800725" cy="530225"/>
          </a:xfrm>
          <a:prstGeom prst="rect">
            <a:avLst/>
          </a:prstGeom>
        </p:spPr>
        <p:txBody>
          <a:bodyPr/>
          <a:lstStyle>
            <a:lvl1pPr marL="0" indent="0">
              <a:buNone/>
              <a:defRPr sz="1800" b="0">
                <a:latin typeface="Arial" panose="020B0604020202020204" pitchFamily="34" charset="0"/>
                <a:cs typeface="Arial" panose="020B0604020202020204" pitchFamily="34" charset="0"/>
              </a:defRPr>
            </a:lvl1pPr>
          </a:lstStyle>
          <a:p>
            <a:pPr lvl="0"/>
            <a:r>
              <a:rPr lang="en-US" dirty="0"/>
              <a:t>Subtitle (18pt)</a:t>
            </a:r>
          </a:p>
        </p:txBody>
      </p:sp>
      <p:sp>
        <p:nvSpPr>
          <p:cNvPr id="7" name="Text Placeholder 12"/>
          <p:cNvSpPr>
            <a:spLocks noGrp="1"/>
          </p:cNvSpPr>
          <p:nvPr>
            <p:ph type="body" sz="quarter" idx="11" hasCustomPrompt="1"/>
          </p:nvPr>
        </p:nvSpPr>
        <p:spPr>
          <a:xfrm>
            <a:off x="673619" y="4432091"/>
            <a:ext cx="2579247" cy="237346"/>
          </a:xfrm>
          <a:prstGeom prst="rect">
            <a:avLst/>
          </a:prstGeom>
        </p:spPr>
        <p:txBody>
          <a:bodyPr/>
          <a:lstStyle>
            <a:lvl1pPr marL="0" indent="0">
              <a:buNone/>
              <a:defRPr sz="1200" b="0">
                <a:latin typeface="Arial" panose="020B0604020202020204" pitchFamily="34" charset="0"/>
                <a:cs typeface="Arial" panose="020B0604020202020204" pitchFamily="34" charset="0"/>
              </a:defRPr>
            </a:lvl1pPr>
          </a:lstStyle>
          <a:p>
            <a:pPr lvl="0"/>
            <a:r>
              <a:rPr lang="en-US" dirty="0"/>
              <a:t>Date (12pt)</a:t>
            </a:r>
          </a:p>
        </p:txBody>
      </p:sp>
    </p:spTree>
    <p:extLst>
      <p:ext uri="{BB962C8B-B14F-4D97-AF65-F5344CB8AC3E}">
        <p14:creationId xmlns:p14="http://schemas.microsoft.com/office/powerpoint/2010/main" val="3004092789"/>
      </p:ext>
    </p:extLst>
  </p:cSld>
  <p:clrMapOvr>
    <a:masterClrMapping/>
  </p:clrMapOvr>
  <p:extLst>
    <p:ext uri="{DCECCB84-F9BA-43D5-87BE-67443E8EF086}">
      <p15:sldGuideLst xmlns:p15="http://schemas.microsoft.com/office/powerpoint/2012/main">
        <p15:guide id="1" orient="horz" pos="2160">
          <p15:clr>
            <a:srgbClr val="FBAE40"/>
          </p15:clr>
        </p15:guide>
        <p15:guide id="2" pos="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userDrawn="1">
            <p:ph type="title"/>
          </p:nvPr>
        </p:nvSpPr>
        <p:spPr>
          <a:xfrm>
            <a:off x="533400" y="354108"/>
            <a:ext cx="11125200" cy="951611"/>
          </a:xfrm>
          <a:prstGeom prst="rect">
            <a:avLst/>
          </a:prstGeom>
        </p:spPr>
        <p:txBody>
          <a:bodyPr/>
          <a:lstStyle>
            <a:lvl1pPr>
              <a:defRPr sz="3200">
                <a:solidFill>
                  <a:schemeClr val="bg1"/>
                </a:solidFill>
              </a:defRPr>
            </a:lvl1pPr>
          </a:lstStyle>
          <a:p>
            <a:r>
              <a:rPr lang="en-US" dirty="0"/>
              <a:t>Click to edit Master title style</a:t>
            </a:r>
          </a:p>
        </p:txBody>
      </p:sp>
      <p:grpSp>
        <p:nvGrpSpPr>
          <p:cNvPr id="2" name="Group 1"/>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4078941"/>
            <a:ext cx="2940984" cy="294098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892" y="6588073"/>
            <a:ext cx="1371600" cy="253257"/>
          </a:xfrm>
          <a:prstGeom prst="rect">
            <a:avLst/>
          </a:prstGeom>
        </p:spPr>
      </p:pic>
    </p:spTree>
    <p:extLst>
      <p:ext uri="{BB962C8B-B14F-4D97-AF65-F5344CB8AC3E}">
        <p14:creationId xmlns:p14="http://schemas.microsoft.com/office/powerpoint/2010/main" val="463028820"/>
      </p:ext>
    </p:extLst>
  </p:cSld>
  <p:clrMapOvr>
    <a:masterClrMapping/>
  </p:clrMapOvr>
  <p:extLst>
    <p:ext uri="{DCECCB84-F9BA-43D5-87BE-67443E8EF086}">
      <p15:sldGuideLst xmlns:p15="http://schemas.microsoft.com/office/powerpoint/2012/main">
        <p15:guide id="1" orient="horz" pos="1152" userDrawn="1">
          <p15:clr>
            <a:srgbClr val="FBAE40"/>
          </p15:clr>
        </p15:guide>
        <p15:guide id="2" pos="73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er Grey">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7"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9"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821698"/>
      </p:ext>
    </p:extLst>
  </p:cSld>
  <p:clrMapOvr>
    <a:masterClrMapping/>
  </p:clrMapOvr>
  <p:extLst>
    <p:ext uri="{DCECCB84-F9BA-43D5-87BE-67443E8EF086}">
      <p15:sldGuideLst xmlns:p15="http://schemas.microsoft.com/office/powerpoint/2012/main">
        <p15:guide id="1" orient="horz" pos="1152">
          <p15:clr>
            <a:srgbClr val="FBAE40"/>
          </p15:clr>
        </p15:guide>
        <p15:guide id="2" pos="73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Red">
    <p:bg>
      <p:bgPr>
        <a:solidFill>
          <a:schemeClr val="accent2"/>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50866270"/>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2452652944"/>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er Purple">
    <p:bg>
      <p:bgPr>
        <a:solidFill>
          <a:schemeClr val="tx2"/>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1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1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436081"/>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Message Take-aw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88006"/>
            <a:ext cx="7476744" cy="3222625"/>
          </a:xfrm>
          <a:prstGeom prst="rect">
            <a:avLst/>
          </a:prstGeom>
        </p:spPr>
        <p:txBody>
          <a:bodyPr/>
          <a:lstStyle>
            <a:lvl1pPr>
              <a:lnSpc>
                <a:spcPct val="100000"/>
              </a:lnSpc>
              <a:defRPr sz="3200">
                <a:solidFill>
                  <a:schemeClr val="bg1"/>
                </a:solidFill>
              </a:defRPr>
            </a:lvl1pPr>
          </a:lstStyle>
          <a:p>
            <a:r>
              <a:rPr lang="en-US" dirty="0"/>
              <a:t>Click to edit Master title style</a:t>
            </a:r>
          </a:p>
        </p:txBody>
      </p:sp>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1912782861"/>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22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953818"/>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latin typeface="Arial" panose="020B0604020202020204" pitchFamily="34" charset="0"/>
                <a:cs typeface="Arial" panose="020B0604020202020204" pitchFamily="34" charset="0"/>
              </a:rPr>
              <a:t>Page</a:t>
            </a:r>
            <a:r>
              <a:rPr lang="en-US" sz="900" baseline="0" dirty="0">
                <a:latin typeface="Arial" panose="020B0604020202020204" pitchFamily="34" charset="0"/>
                <a:cs typeface="Arial" panose="020B0604020202020204" pitchFamily="34" charset="0"/>
              </a:rPr>
              <a:t> footer text  </a:t>
            </a:r>
            <a:r>
              <a:rPr lang="en-US" sz="900" dirty="0">
                <a:latin typeface="Arial" panose="020B0604020202020204" pitchFamily="34" charset="0"/>
                <a:cs typeface="Arial" panose="020B0604020202020204" pitchFamily="34" charset="0"/>
              </a:rPr>
              <a:t> |  </a:t>
            </a:r>
            <a:fld id="{11B427C5-C2E3-4C10-899D-ACC0DA09E6A6}" type="slidenum">
              <a:rPr lang="en-US" sz="900" smtClean="0">
                <a:latin typeface="Arial" panose="020B0604020202020204" pitchFamily="34" charset="0"/>
                <a:cs typeface="Arial" panose="020B0604020202020204" pitchFamily="34" charset="0"/>
              </a:rPr>
              <a:pPr algn="r"/>
              <a:t>‹#›</a:t>
            </a:fld>
            <a:endParaRPr lang="en-US" sz="900" dirty="0">
              <a:latin typeface="Arial" panose="020B0604020202020204" pitchFamily="34" charset="0"/>
              <a:cs typeface="Arial" panose="020B0604020202020204" pitchFamily="34" charset="0"/>
            </a:endParaRPr>
          </a:p>
        </p:txBody>
      </p:sp>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322939398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661" r:id="rId4"/>
  </p:sldLayoutIdLst>
  <p:txStyles>
    <p:titleStyle>
      <a:lvl1pPr algn="l" defTabSz="914400" rtl="0" eaLnBrk="1" latinLnBrk="0" hangingPunct="1">
        <a:lnSpc>
          <a:spcPct val="90000"/>
        </a:lnSpc>
        <a:spcBef>
          <a:spcPct val="0"/>
        </a:spcBef>
        <a:buNone/>
        <a:defRPr sz="32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pos="7152" userDrawn="1">
          <p15:clr>
            <a:srgbClr val="F26B43"/>
          </p15:clr>
        </p15:guide>
        <p15:guide id="3" orient="horz" pos="3864" userDrawn="1">
          <p15:clr>
            <a:srgbClr val="F26B43"/>
          </p15:clr>
        </p15:guide>
        <p15:guide id="4" orient="horz" pos="456" userDrawn="1">
          <p15:clr>
            <a:srgbClr val="F26B43"/>
          </p15:clr>
        </p15:guide>
        <p15:guide id="5"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92476" y="0"/>
            <a:ext cx="9137356" cy="6867234"/>
            <a:chOff x="25893" y="0"/>
            <a:chExt cx="9137356" cy="6867234"/>
          </a:xfrm>
        </p:grpSpPr>
        <p:sp>
          <p:nvSpPr>
            <p:cNvPr id="8" name="Rectangle 7"/>
            <p:cNvSpPr/>
            <p:nvPr userDrawn="1"/>
          </p:nvSpPr>
          <p:spPr>
            <a:xfrm>
              <a:off x="2685094" y="1285875"/>
              <a:ext cx="6478155" cy="5572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93" y="0"/>
              <a:ext cx="9133010" cy="6867234"/>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338378214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1288781904"/>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solidFill>
                  <a:schemeClr val="bg1"/>
                </a:solidFill>
                <a:latin typeface="Arial" panose="020B0604020202020204" pitchFamily="34" charset="0"/>
                <a:cs typeface="Arial" panose="020B0604020202020204" pitchFamily="34" charset="0"/>
              </a:rPr>
              <a:t>Page</a:t>
            </a:r>
            <a:r>
              <a:rPr lang="en-US" sz="900" baseline="0" dirty="0">
                <a:solidFill>
                  <a:schemeClr val="bg1"/>
                </a:solidFill>
                <a:latin typeface="Arial" panose="020B0604020202020204" pitchFamily="34" charset="0"/>
                <a:cs typeface="Arial" panose="020B0604020202020204" pitchFamily="34" charset="0"/>
              </a:rPr>
              <a:t> footer text  </a:t>
            </a:r>
            <a:r>
              <a:rPr lang="en-US" sz="900" dirty="0">
                <a:solidFill>
                  <a:schemeClr val="bg1"/>
                </a:solidFill>
                <a:latin typeface="Arial" panose="020B0604020202020204" pitchFamily="34" charset="0"/>
                <a:cs typeface="Arial" panose="020B0604020202020204" pitchFamily="34" charset="0"/>
              </a:rPr>
              <a:t> |  </a:t>
            </a:r>
            <a:fld id="{11B427C5-C2E3-4C10-899D-ACC0DA09E6A6}" type="slidenum">
              <a:rPr lang="en-US" sz="900" smtClean="0">
                <a:solidFill>
                  <a:schemeClr val="bg1"/>
                </a:solidFill>
                <a:latin typeface="Arial" panose="020B0604020202020204" pitchFamily="34" charset="0"/>
                <a:cs typeface="Arial" panose="020B0604020202020204" pitchFamily="34" charset="0"/>
              </a:rPr>
              <a:pPr algn="r"/>
              <a:t>‹#›</a:t>
            </a:fld>
            <a:endParaRPr lang="en-US" sz="900" dirty="0">
              <a:solidFill>
                <a:schemeClr val="bg1"/>
              </a:solidFill>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475946878"/>
      </p:ext>
    </p:extLst>
  </p:cSld>
  <p:clrMap bg1="lt1" tx1="dk1" bg2="lt2" tx2="dk2" accent1="accent1" accent2="accent2" accent3="accent3" accent4="accent4" accent5="accent5" accent6="accent6" hlink="hlink" folHlink="folHlink"/>
  <p:sldLayoutIdLst>
    <p:sldLayoutId id="2147483715" r:id="rId1"/>
    <p:sldLayoutId id="2147483721" r:id="rId2"/>
    <p:sldLayoutId id="2147483712" r:id="rId3"/>
    <p:sldLayoutId id="2147483713" r:id="rId4"/>
    <p:sldLayoutId id="2147483714" r:id="rId5"/>
    <p:sldLayoutId id="2147483722" r:id="rId6"/>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orient="horz" pos="456" userDrawn="1">
          <p15:clr>
            <a:srgbClr val="F26B43"/>
          </p15:clr>
        </p15:guide>
        <p15:guide id="3" pos="734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96712" y="3168091"/>
            <a:ext cx="2972980" cy="548939"/>
          </a:xfrm>
          <a:prstGeom prst="rect">
            <a:avLst/>
          </a:prstGeom>
        </p:spPr>
      </p:pic>
    </p:spTree>
    <p:extLst>
      <p:ext uri="{BB962C8B-B14F-4D97-AF65-F5344CB8AC3E}">
        <p14:creationId xmlns:p14="http://schemas.microsoft.com/office/powerpoint/2010/main" val="356312966"/>
      </p:ext>
    </p:extLst>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3185" y="0"/>
            <a:ext cx="5736165" cy="6857999"/>
          </a:xfrm>
          <a:prstGeom prst="rect">
            <a:avLst/>
          </a:prstGeom>
        </p:spPr>
      </p:pic>
      <p:sp>
        <p:nvSpPr>
          <p:cNvPr id="11" name="Title 8"/>
          <p:cNvSpPr>
            <a:spLocks noGrp="1"/>
          </p:cNvSpPr>
          <p:nvPr>
            <p:ph type="title"/>
          </p:nvPr>
        </p:nvSpPr>
        <p:spPr>
          <a:xfrm>
            <a:off x="562763" y="2840945"/>
            <a:ext cx="4798688" cy="600754"/>
          </a:xfrm>
        </p:spPr>
        <p:txBody>
          <a:bodyPr/>
          <a:lstStyle/>
          <a:p>
            <a:r>
              <a:rPr lang="en-US" b="1" dirty="0"/>
              <a:t>NCR - 9505</a:t>
            </a:r>
            <a:endParaRPr lang="en-US" dirty="0">
              <a:effectLst/>
            </a:endParaRPr>
          </a:p>
        </p:txBody>
      </p:sp>
      <p:sp>
        <p:nvSpPr>
          <p:cNvPr id="15" name="Text Placeholder 9"/>
          <p:cNvSpPr>
            <a:spLocks noGrp="1"/>
          </p:cNvSpPr>
          <p:nvPr>
            <p:ph type="body" sz="quarter" idx="10"/>
          </p:nvPr>
        </p:nvSpPr>
        <p:spPr>
          <a:xfrm>
            <a:off x="562764" y="3429000"/>
            <a:ext cx="6139119" cy="317501"/>
          </a:xfrm>
        </p:spPr>
        <p:txBody>
          <a:bodyPr/>
          <a:lstStyle/>
          <a:p>
            <a:pPr algn="l" fontAlgn="t"/>
            <a:r>
              <a:rPr lang="en-US" sz="1600" b="0" i="0" dirty="0">
                <a:solidFill>
                  <a:srgbClr val="222222"/>
                </a:solidFill>
                <a:effectLst/>
                <a:latin typeface="Open Sans" panose="020B0606030504020204" pitchFamily="34" charset="0"/>
              </a:rPr>
              <a:t>QER: AGOGO FULL FIELD DEVELOPMENT PROJECT SF300824C003.76 – Intermittent superficial scratches</a:t>
            </a:r>
            <a:endParaRPr lang="en-US" dirty="0"/>
          </a:p>
        </p:txBody>
      </p:sp>
    </p:spTree>
    <p:extLst>
      <p:ext uri="{BB962C8B-B14F-4D97-AF65-F5344CB8AC3E}">
        <p14:creationId xmlns:p14="http://schemas.microsoft.com/office/powerpoint/2010/main" val="24902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4017863645"/>
              </p:ext>
            </p:extLst>
          </p:nvPr>
        </p:nvGraphicFramePr>
        <p:xfrm>
          <a:off x="1206033" y="1084146"/>
          <a:ext cx="9822522" cy="4824590"/>
        </p:xfrm>
        <a:graphic>
          <a:graphicData uri="http://schemas.openxmlformats.org/drawingml/2006/table">
            <a:tbl>
              <a:tblPr firstRow="1" bandRow="1">
                <a:tableStyleId>{5C22544A-7EE6-4342-B048-85BDC9FD1C3A}</a:tableStyleId>
              </a:tblPr>
              <a:tblGrid>
                <a:gridCol w="4911261">
                  <a:extLst>
                    <a:ext uri="{9D8B030D-6E8A-4147-A177-3AD203B41FA5}">
                      <a16:colId xmlns:a16="http://schemas.microsoft.com/office/drawing/2014/main" val="20000"/>
                    </a:ext>
                  </a:extLst>
                </a:gridCol>
                <a:gridCol w="4911261">
                  <a:extLst>
                    <a:ext uri="{9D8B030D-6E8A-4147-A177-3AD203B41FA5}">
                      <a16:colId xmlns:a16="http://schemas.microsoft.com/office/drawing/2014/main" val="20001"/>
                    </a:ext>
                  </a:extLst>
                </a:gridCol>
              </a:tblGrid>
              <a:tr h="450012">
                <a:tc>
                  <a:txBody>
                    <a:bodyPr/>
                    <a:lstStyle/>
                    <a:p>
                      <a:pPr marL="0" algn="l" defTabSz="914400" rtl="0" eaLnBrk="1" latinLnBrk="0" hangingPunct="1"/>
                      <a:endParaRPr lang="en-US" sz="2000" kern="1200" dirty="0">
                        <a:solidFill>
                          <a:schemeClr val="dk1"/>
                        </a:solidFill>
                        <a:latin typeface="+mn-lt"/>
                        <a:ea typeface="+mn-ea"/>
                        <a:cs typeface="+mn-cs"/>
                      </a:endParaRPr>
                    </a:p>
                    <a:p>
                      <a:pPr marL="0" algn="ctr" defTabSz="914400" rtl="0" eaLnBrk="1" latinLnBrk="0" hangingPunct="1"/>
                      <a:r>
                        <a:rPr lang="en-US" sz="2000" kern="1200" dirty="0">
                          <a:solidFill>
                            <a:schemeClr val="dk1"/>
                          </a:solidFill>
                          <a:latin typeface="+mn-lt"/>
                          <a:ea typeface="+mn-ea"/>
                          <a:cs typeface="+mn-cs"/>
                        </a:rPr>
                        <a:t>Item</a:t>
                      </a:r>
                    </a:p>
                    <a:p>
                      <a:pPr marL="0" algn="ctr" defTabSz="914400" rtl="0" eaLnBrk="1" latinLnBrk="0" hangingPunct="1"/>
                      <a:endParaRPr lang="en-US" sz="2000" kern="1200" dirty="0">
                        <a:solidFill>
                          <a:schemeClr val="dk1"/>
                        </a:solidFill>
                        <a:latin typeface="+mn-lt"/>
                        <a:ea typeface="+mn-ea"/>
                        <a:cs typeface="+mn-cs"/>
                      </a:endParaRPr>
                    </a:p>
                  </a:txBody>
                  <a:tcPr/>
                </a:tc>
                <a:tc>
                  <a:txBody>
                    <a:bodyPr/>
                    <a:lstStyle/>
                    <a:p>
                      <a:pPr marL="0" algn="ctr" defTabSz="914400" rtl="0" eaLnBrk="1" latinLnBrk="0" hangingPunct="1"/>
                      <a:r>
                        <a:rPr lang="en-US" sz="2000" kern="1200" dirty="0">
                          <a:solidFill>
                            <a:schemeClr val="dk1"/>
                          </a:solidFill>
                          <a:latin typeface="+mn-lt"/>
                          <a:ea typeface="+mn-ea"/>
                          <a:cs typeface="+mn-cs"/>
                        </a:rPr>
                        <a:t>Traceability / identification</a:t>
                      </a:r>
                    </a:p>
                  </a:txBody>
                  <a:tcPr anchor="ctr"/>
                </a:tc>
                <a:extLst>
                  <a:ext uri="{0D108BD9-81ED-4DB2-BD59-A6C34878D82A}">
                    <a16:rowId xmlns:a16="http://schemas.microsoft.com/office/drawing/2014/main" val="10000"/>
                  </a:ext>
                </a:extLst>
              </a:tr>
              <a:tr h="430399">
                <a:tc>
                  <a:txBody>
                    <a:bodyPr/>
                    <a:lstStyle/>
                    <a:p>
                      <a:r>
                        <a:rPr lang="en-US" sz="2000" b="1" dirty="0"/>
                        <a:t>Project number</a:t>
                      </a:r>
                    </a:p>
                  </a:txBody>
                  <a:tcPr anchor="ctr"/>
                </a:tc>
                <a:tc>
                  <a:txBody>
                    <a:bodyPr/>
                    <a:lstStyle/>
                    <a:p>
                      <a:r>
                        <a:rPr lang="en-US" sz="1800" b="0" i="0" kern="1200" dirty="0">
                          <a:solidFill>
                            <a:schemeClr val="dk1"/>
                          </a:solidFill>
                          <a:effectLst/>
                          <a:latin typeface="+mn-lt"/>
                          <a:ea typeface="+mn-ea"/>
                          <a:cs typeface="+mn-cs"/>
                        </a:rPr>
                        <a:t>SF300824C003</a:t>
                      </a:r>
                      <a:endParaRPr lang="en-US" sz="2000" dirty="0"/>
                    </a:p>
                  </a:txBody>
                  <a:tcPr anchor="ctr"/>
                </a:tc>
                <a:extLst>
                  <a:ext uri="{0D108BD9-81ED-4DB2-BD59-A6C34878D82A}">
                    <a16:rowId xmlns:a16="http://schemas.microsoft.com/office/drawing/2014/main" val="10001"/>
                  </a:ext>
                </a:extLst>
              </a:tr>
              <a:tr h="430399">
                <a:tc>
                  <a:txBody>
                    <a:bodyPr/>
                    <a:lstStyle/>
                    <a:p>
                      <a:r>
                        <a:rPr lang="en-US" sz="2000" b="1" dirty="0"/>
                        <a:t>Project name</a:t>
                      </a:r>
                    </a:p>
                  </a:txBody>
                  <a:tcPr anchor="ctr"/>
                </a:tc>
                <a:tc>
                  <a:txBody>
                    <a:bodyPr/>
                    <a:lstStyle/>
                    <a:p>
                      <a:r>
                        <a:rPr lang="en-US" sz="1800" b="0" i="0" kern="1200" dirty="0">
                          <a:solidFill>
                            <a:schemeClr val="dk1"/>
                          </a:solidFill>
                          <a:effectLst/>
                          <a:latin typeface="+mn-lt"/>
                          <a:ea typeface="+mn-ea"/>
                          <a:cs typeface="+mn-cs"/>
                        </a:rPr>
                        <a:t>AGOGO FULL FIELD DEVELOPMENT </a:t>
                      </a:r>
                      <a:endParaRPr lang="en-US" sz="2000" dirty="0"/>
                    </a:p>
                  </a:txBody>
                  <a:tcPr anchor="ctr"/>
                </a:tc>
                <a:extLst>
                  <a:ext uri="{0D108BD9-81ED-4DB2-BD59-A6C34878D82A}">
                    <a16:rowId xmlns:a16="http://schemas.microsoft.com/office/drawing/2014/main" val="10002"/>
                  </a:ext>
                </a:extLst>
              </a:tr>
              <a:tr h="623060">
                <a:tc>
                  <a:txBody>
                    <a:bodyPr/>
                    <a:lstStyle/>
                    <a:p>
                      <a:r>
                        <a:rPr lang="en-US" sz="2000" b="1" dirty="0"/>
                        <a:t>Pipe section</a:t>
                      </a:r>
                    </a:p>
                  </a:txBody>
                  <a:tcPr anchor="ctr"/>
                </a:tc>
                <a:tc>
                  <a:txBody>
                    <a:bodyPr/>
                    <a:lstStyle/>
                    <a:p>
                      <a:r>
                        <a:rPr lang="en-US" sz="1800" b="0" i="0" kern="1200" dirty="0">
                          <a:solidFill>
                            <a:schemeClr val="dk1"/>
                          </a:solidFill>
                          <a:effectLst/>
                          <a:latin typeface="+mn-lt"/>
                          <a:ea typeface="+mn-ea"/>
                          <a:cs typeface="+mn-cs"/>
                        </a:rPr>
                        <a:t>SF300824C003.76</a:t>
                      </a:r>
                      <a:endParaRPr lang="en-US" sz="2400" dirty="0"/>
                    </a:p>
                  </a:txBody>
                  <a:tcPr anchor="ctr"/>
                </a:tc>
                <a:extLst>
                  <a:ext uri="{0D108BD9-81ED-4DB2-BD59-A6C34878D82A}">
                    <a16:rowId xmlns:a16="http://schemas.microsoft.com/office/drawing/2014/main" val="10003"/>
                  </a:ext>
                </a:extLst>
              </a:tr>
              <a:tr h="430399">
                <a:tc>
                  <a:txBody>
                    <a:bodyPr/>
                    <a:lstStyle/>
                    <a:p>
                      <a:r>
                        <a:rPr lang="en-US" sz="2000" b="1" dirty="0"/>
                        <a:t>ST number</a:t>
                      </a:r>
                    </a:p>
                  </a:txBody>
                  <a:tcPr anchor="ctr"/>
                </a:tc>
                <a:tc>
                  <a:txBody>
                    <a:bodyPr/>
                    <a:lstStyle/>
                    <a:p>
                      <a:r>
                        <a:rPr lang="en-US" sz="1800" b="0" i="0" kern="1200" dirty="0">
                          <a:solidFill>
                            <a:schemeClr val="dk1"/>
                          </a:solidFill>
                          <a:effectLst/>
                          <a:latin typeface="+mn-lt"/>
                          <a:ea typeface="+mn-ea"/>
                          <a:cs typeface="+mn-cs"/>
                        </a:rPr>
                        <a:t>ST203.13584</a:t>
                      </a:r>
                      <a:endParaRPr lang="en-US" sz="2000" dirty="0"/>
                    </a:p>
                  </a:txBody>
                  <a:tcPr anchor="ctr"/>
                </a:tc>
                <a:extLst>
                  <a:ext uri="{0D108BD9-81ED-4DB2-BD59-A6C34878D82A}">
                    <a16:rowId xmlns:a16="http://schemas.microsoft.com/office/drawing/2014/main" val="10004"/>
                  </a:ext>
                </a:extLst>
              </a:tr>
              <a:tr h="430399">
                <a:tc>
                  <a:txBody>
                    <a:bodyPr/>
                    <a:lstStyle/>
                    <a:p>
                      <a:r>
                        <a:rPr lang="en-US" sz="2000" b="1" dirty="0"/>
                        <a:t>Affected layer / equipment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effectLst/>
                        </a:rPr>
                        <a:t>Zeta spiraling</a:t>
                      </a:r>
                      <a:endParaRPr lang="en-GB" sz="2000" dirty="0">
                        <a:effectLst/>
                      </a:endParaRPr>
                    </a:p>
                  </a:txBody>
                  <a:tcPr anchor="ctr"/>
                </a:tc>
                <a:extLst>
                  <a:ext uri="{0D108BD9-81ED-4DB2-BD59-A6C34878D82A}">
                    <a16:rowId xmlns:a16="http://schemas.microsoft.com/office/drawing/2014/main" val="10005"/>
                  </a:ext>
                </a:extLst>
              </a:tr>
              <a:tr h="773054">
                <a:tc>
                  <a:txBody>
                    <a:bodyPr/>
                    <a:lstStyle/>
                    <a:p>
                      <a:r>
                        <a:rPr lang="en-US" sz="2000" b="1" dirty="0"/>
                        <a:t>Length</a:t>
                      </a:r>
                      <a:r>
                        <a:rPr lang="en-US" sz="2000" b="1" baseline="0" dirty="0"/>
                        <a:t> affected</a:t>
                      </a:r>
                      <a:endParaRPr lang="en-US" sz="2000" b="1" dirty="0"/>
                    </a:p>
                  </a:txBody>
                  <a:tcPr anchor="ctr"/>
                </a:tc>
                <a:tc>
                  <a:txBody>
                    <a:bodyPr/>
                    <a:lstStyle/>
                    <a:p>
                      <a:pPr marL="0" indent="0">
                        <a:buFont typeface="Arial" panose="020B0604020202020204" pitchFamily="34" charset="0"/>
                        <a:buNone/>
                      </a:pPr>
                      <a:r>
                        <a:rPr lang="en-US" sz="1800" b="0" i="0" kern="1200" dirty="0">
                          <a:solidFill>
                            <a:schemeClr val="dk1"/>
                          </a:solidFill>
                          <a:effectLst/>
                          <a:latin typeface="+mn-lt"/>
                          <a:ea typeface="+mn-ea"/>
                          <a:cs typeface="+mn-cs"/>
                        </a:rPr>
                        <a:t>220m until 704m</a:t>
                      </a:r>
                    </a:p>
                  </a:txBody>
                  <a:tcPr anchor="ctr"/>
                </a:tc>
                <a:extLst>
                  <a:ext uri="{0D108BD9-81ED-4DB2-BD59-A6C34878D82A}">
                    <a16:rowId xmlns:a16="http://schemas.microsoft.com/office/drawing/2014/main" val="10006"/>
                  </a:ext>
                </a:extLst>
              </a:tr>
              <a:tr h="623060">
                <a:tc>
                  <a:txBody>
                    <a:bodyPr/>
                    <a:lstStyle/>
                    <a:p>
                      <a:r>
                        <a:rPr lang="en-US" sz="2000" b="1" dirty="0"/>
                        <a:t>Drawing number / MP code / STA / Dimension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Zeta 12 FI09 (MP393)</a:t>
                      </a:r>
                    </a:p>
                  </a:txBody>
                  <a:tcPr anchor="ctr"/>
                </a:tc>
                <a:extLst>
                  <a:ext uri="{0D108BD9-81ED-4DB2-BD59-A6C34878D82A}">
                    <a16:rowId xmlns:a16="http://schemas.microsoft.com/office/drawing/2014/main" val="10007"/>
                  </a:ext>
                </a:extLst>
              </a:tr>
            </a:tbl>
          </a:graphicData>
        </a:graphic>
      </p:graphicFrame>
      <p:sp>
        <p:nvSpPr>
          <p:cNvPr id="6" name="Title 7">
            <a:extLst>
              <a:ext uri="{FF2B5EF4-FFF2-40B4-BE49-F238E27FC236}">
                <a16:creationId xmlns:a16="http://schemas.microsoft.com/office/drawing/2014/main" id="{57EDE61D-85BE-47FE-ADE9-7C624E892B0C}"/>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Pipe section / Details</a:t>
            </a:r>
          </a:p>
        </p:txBody>
      </p:sp>
    </p:spTree>
    <p:extLst>
      <p:ext uri="{BB962C8B-B14F-4D97-AF65-F5344CB8AC3E}">
        <p14:creationId xmlns:p14="http://schemas.microsoft.com/office/powerpoint/2010/main" val="871867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51A6E4E-D3A8-4EC1-BE53-9DF27CD3E17D}"/>
              </a:ext>
            </a:extLst>
          </p:cNvPr>
          <p:cNvSpPr txBox="1"/>
          <p:nvPr/>
        </p:nvSpPr>
        <p:spPr>
          <a:xfrm>
            <a:off x="624468" y="1029546"/>
            <a:ext cx="11006254" cy="4751494"/>
          </a:xfrm>
          <a:prstGeom prst="rect">
            <a:avLst/>
          </a:prstGeom>
          <a:noFill/>
        </p:spPr>
        <p:txBody>
          <a:bodyPr wrap="square" rtlCol="0">
            <a:spAutoFit/>
          </a:bodyPr>
          <a:lstStyle/>
          <a:p>
            <a:pPr>
              <a:lnSpc>
                <a:spcPct val="150000"/>
              </a:lnSpc>
            </a:pPr>
            <a:r>
              <a:rPr lang="en-US" b="1" u="sng" dirty="0">
                <a:solidFill>
                  <a:srgbClr val="080808"/>
                </a:solidFill>
                <a:effectLst>
                  <a:outerShdw blurRad="38100" dist="38100" dir="2700000" algn="tl">
                    <a:srgbClr val="000000">
                      <a:alpha val="43137"/>
                    </a:srgbClr>
                  </a:outerShdw>
                </a:effectLst>
              </a:rPr>
              <a:t>Problem Description :-</a:t>
            </a:r>
          </a:p>
          <a:p>
            <a:r>
              <a:rPr lang="en-US" sz="1400" b="0" i="0" dirty="0">
                <a:solidFill>
                  <a:srgbClr val="222222"/>
                </a:solidFill>
                <a:effectLst/>
                <a:latin typeface="Open Sans" panose="020B0606030504020204" pitchFamily="34" charset="0"/>
              </a:rPr>
              <a:t>During zeta spiraling for AGOGO FULL FIELD DEVELOPMENT PROJECT SF300824C003.76 (ST203.13584), intermittent superficial scratch due to roller mark on the zeta wire was detected at start length 220m until 704m on pipe.</a:t>
            </a:r>
            <a:br>
              <a:rPr lang="en-US" sz="1400" dirty="0"/>
            </a:br>
            <a:br>
              <a:rPr lang="en-US" sz="1400" dirty="0"/>
            </a:br>
            <a:r>
              <a:rPr lang="en-US" sz="1400" b="0" i="0" dirty="0">
                <a:solidFill>
                  <a:srgbClr val="222222"/>
                </a:solidFill>
                <a:effectLst/>
                <a:latin typeface="Open Sans" panose="020B0606030504020204" pitchFamily="34" charset="0"/>
              </a:rPr>
              <a:t>The details of measurement are as per below.</a:t>
            </a:r>
            <a:br>
              <a:rPr lang="en-US" sz="1400" dirty="0"/>
            </a:br>
            <a:r>
              <a:rPr lang="en-US" sz="1400" b="0" i="0" dirty="0">
                <a:solidFill>
                  <a:srgbClr val="222222"/>
                </a:solidFill>
                <a:effectLst/>
                <a:latin typeface="Open Sans" panose="020B0606030504020204" pitchFamily="34" charset="0"/>
              </a:rPr>
              <a:t>- Depth : 27um</a:t>
            </a:r>
            <a:br>
              <a:rPr lang="en-US" sz="1400" dirty="0"/>
            </a:br>
            <a:r>
              <a:rPr lang="en-US" sz="1400" b="0" i="0" dirty="0">
                <a:solidFill>
                  <a:srgbClr val="222222"/>
                </a:solidFill>
                <a:effectLst/>
                <a:latin typeface="Open Sans" panose="020B0606030504020204" pitchFamily="34" charset="0"/>
              </a:rPr>
              <a:t>- Upsetting : 28um</a:t>
            </a:r>
          </a:p>
          <a:p>
            <a:endParaRPr lang="en-US" sz="1400" dirty="0">
              <a:solidFill>
                <a:srgbClr val="222222"/>
              </a:solidFill>
              <a:latin typeface="Open Sans" panose="020B0606030504020204" pitchFamily="34" charset="0"/>
            </a:endParaRPr>
          </a:p>
          <a:p>
            <a:pPr>
              <a:lnSpc>
                <a:spcPct val="150000"/>
              </a:lnSpc>
            </a:pPr>
            <a:r>
              <a:rPr lang="en-US" b="1" u="sng" dirty="0">
                <a:solidFill>
                  <a:srgbClr val="080808"/>
                </a:solidFill>
                <a:effectLst>
                  <a:outerShdw blurRad="38100" dist="38100" dir="2700000" algn="tl">
                    <a:srgbClr val="000000">
                      <a:alpha val="43137"/>
                    </a:srgbClr>
                  </a:outerShdw>
                </a:effectLst>
              </a:rPr>
              <a:t>Root Cause :- </a:t>
            </a:r>
          </a:p>
          <a:p>
            <a:pPr>
              <a:lnSpc>
                <a:spcPct val="150000"/>
              </a:lnSpc>
            </a:pPr>
            <a:r>
              <a:rPr lang="en-US" sz="1400" b="0" i="0" dirty="0">
                <a:solidFill>
                  <a:srgbClr val="222222"/>
                </a:solidFill>
                <a:effectLst/>
                <a:latin typeface="Open Sans" panose="020B0606030504020204" pitchFamily="34" charset="0"/>
              </a:rPr>
              <a:t>The root cause was due to operation roller number 5 worn out due to 1st commercial project monitoring. Currently using with Phosphating coating during initial WRQ and for this commercial production.</a:t>
            </a:r>
          </a:p>
          <a:p>
            <a:pPr>
              <a:lnSpc>
                <a:spcPct val="150000"/>
              </a:lnSpc>
            </a:pPr>
            <a:endParaRPr lang="en-US" sz="1400" b="1" u="sng" dirty="0">
              <a:solidFill>
                <a:srgbClr val="080808"/>
              </a:solidFill>
              <a:effectLst>
                <a:outerShdw blurRad="38100" dist="38100" dir="2700000" algn="tl">
                  <a:srgbClr val="000000">
                    <a:alpha val="43137"/>
                  </a:srgbClr>
                </a:outerShdw>
              </a:effectLst>
            </a:endParaRPr>
          </a:p>
          <a:p>
            <a:pPr>
              <a:lnSpc>
                <a:spcPct val="150000"/>
              </a:lnSpc>
            </a:pPr>
            <a:r>
              <a:rPr lang="en-US" b="1" u="sng" dirty="0">
                <a:solidFill>
                  <a:srgbClr val="080808"/>
                </a:solidFill>
                <a:effectLst>
                  <a:outerShdw blurRad="38100" dist="38100" dir="2700000" algn="tl">
                    <a:srgbClr val="000000">
                      <a:alpha val="43137"/>
                    </a:srgbClr>
                  </a:outerShdw>
                </a:effectLst>
              </a:rPr>
              <a:t>Problem Handling</a:t>
            </a:r>
            <a:r>
              <a:rPr lang="en-US" dirty="0">
                <a:solidFill>
                  <a:srgbClr val="080808"/>
                </a:solidFill>
                <a:effectLst>
                  <a:outerShdw blurRad="38100" dist="38100" dir="2700000" algn="tl">
                    <a:srgbClr val="000000">
                      <a:alpha val="43137"/>
                    </a:srgbClr>
                  </a:outerShdw>
                </a:effectLst>
              </a:rPr>
              <a:t>:-</a:t>
            </a:r>
            <a:endParaRPr lang="en-US" b="0" i="0" u="none" strike="noStrike" baseline="0" dirty="0">
              <a:solidFill>
                <a:srgbClr val="000000"/>
              </a:solidFill>
              <a:latin typeface="Calibri" panose="020F0502020204030204" pitchFamily="34" charset="0"/>
            </a:endParaRPr>
          </a:p>
          <a:p>
            <a:pPr>
              <a:lnSpc>
                <a:spcPct val="150000"/>
              </a:lnSpc>
            </a:pPr>
            <a:r>
              <a:rPr lang="en-US" sz="1400" b="0" i="0" dirty="0">
                <a:solidFill>
                  <a:srgbClr val="222222"/>
                </a:solidFill>
                <a:effectLst/>
                <a:latin typeface="Open Sans" panose="020B0606030504020204" pitchFamily="34" charset="0"/>
              </a:rPr>
              <a:t>According to project acceptance criteria CD_300824C003_str20313584_TR76-78,7C-7D,7F-7H_An_Pressure vault, the maximum allowable criteria for the depth of surface defects is 30um and for the maximum upsetting is 100um. Thus, this defect was accepted as it is.</a:t>
            </a:r>
          </a:p>
        </p:txBody>
      </p:sp>
      <p:sp>
        <p:nvSpPr>
          <p:cNvPr id="6" name="Title 7">
            <a:extLst>
              <a:ext uri="{FF2B5EF4-FFF2-40B4-BE49-F238E27FC236}">
                <a16:creationId xmlns:a16="http://schemas.microsoft.com/office/drawing/2014/main" id="{5A1AA70D-F46C-4B5F-A682-101CB5606ABE}"/>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Overview of anomaly</a:t>
            </a:r>
          </a:p>
        </p:txBody>
      </p:sp>
    </p:spTree>
    <p:extLst>
      <p:ext uri="{BB962C8B-B14F-4D97-AF65-F5344CB8AC3E}">
        <p14:creationId xmlns:p14="http://schemas.microsoft.com/office/powerpoint/2010/main" val="415791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400" dirty="0">
                <a:solidFill>
                  <a:srgbClr val="080808"/>
                </a:solidFill>
                <a:effectLst>
                  <a:outerShdw blurRad="38100" dist="38100" dir="2700000" algn="tl">
                    <a:srgbClr val="000000">
                      <a:alpha val="43137"/>
                    </a:srgbClr>
                  </a:outerShdw>
                </a:effectLst>
              </a:rPr>
              <a:t>DEFECT PHOTO</a:t>
            </a:r>
          </a:p>
        </p:txBody>
      </p:sp>
      <p:sp>
        <p:nvSpPr>
          <p:cNvPr id="10" name="TextBox 9">
            <a:extLst>
              <a:ext uri="{FF2B5EF4-FFF2-40B4-BE49-F238E27FC236}">
                <a16:creationId xmlns:a16="http://schemas.microsoft.com/office/drawing/2014/main" id="{F8812327-636C-4753-8680-A8898364D124}"/>
              </a:ext>
            </a:extLst>
          </p:cNvPr>
          <p:cNvSpPr txBox="1"/>
          <p:nvPr/>
        </p:nvSpPr>
        <p:spPr>
          <a:xfrm>
            <a:off x="1293536" y="5761177"/>
            <a:ext cx="9723866" cy="523220"/>
          </a:xfrm>
          <a:prstGeom prst="rect">
            <a:avLst/>
          </a:prstGeom>
          <a:noFill/>
        </p:spPr>
        <p:txBody>
          <a:bodyPr wrap="square" rtlCol="0">
            <a:spAutoFit/>
          </a:bodyPr>
          <a:lstStyle/>
          <a:p>
            <a:pPr algn="ctr"/>
            <a:r>
              <a:rPr lang="en-US" sz="1400" b="1" dirty="0"/>
              <a:t>Figure 1 </a:t>
            </a:r>
            <a:r>
              <a:rPr lang="en-US" sz="1400" dirty="0"/>
              <a:t>: </a:t>
            </a:r>
            <a:r>
              <a:rPr lang="en-US" sz="1400" dirty="0">
                <a:solidFill>
                  <a:srgbClr val="222222"/>
                </a:solidFill>
                <a:latin typeface="Open Sans" panose="020B0606030504020204" pitchFamily="34" charset="0"/>
              </a:rPr>
              <a:t>I</a:t>
            </a:r>
            <a:r>
              <a:rPr lang="en-US" sz="1400" b="0" i="0" dirty="0">
                <a:solidFill>
                  <a:srgbClr val="222222"/>
                </a:solidFill>
                <a:effectLst/>
                <a:latin typeface="Open Sans" panose="020B0606030504020204" pitchFamily="34" charset="0"/>
              </a:rPr>
              <a:t>ntermittent superficial scratch due to roller mark on the zeta wire was detected at start length 220m until 704m on pipe.</a:t>
            </a:r>
          </a:p>
        </p:txBody>
      </p:sp>
      <p:pic>
        <p:nvPicPr>
          <p:cNvPr id="7" name="Picture 6" descr="Close-up of a stack of metal&#10;&#10;Description automatically generated">
            <a:extLst>
              <a:ext uri="{FF2B5EF4-FFF2-40B4-BE49-F238E27FC236}">
                <a16:creationId xmlns:a16="http://schemas.microsoft.com/office/drawing/2014/main" id="{B84D96BB-6B7D-C84A-60A9-D4FFD02DE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867150" y="371852"/>
            <a:ext cx="4457700" cy="5943600"/>
          </a:xfrm>
          <a:prstGeom prst="rect">
            <a:avLst/>
          </a:prstGeom>
        </p:spPr>
      </p:pic>
    </p:spTree>
    <p:extLst>
      <p:ext uri="{BB962C8B-B14F-4D97-AF65-F5344CB8AC3E}">
        <p14:creationId xmlns:p14="http://schemas.microsoft.com/office/powerpoint/2010/main" val="2035262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400" dirty="0">
                <a:solidFill>
                  <a:srgbClr val="080808"/>
                </a:solidFill>
                <a:effectLst>
                  <a:outerShdw blurRad="38100" dist="38100" dir="2700000" algn="tl">
                    <a:srgbClr val="000000">
                      <a:alpha val="43137"/>
                    </a:srgbClr>
                  </a:outerShdw>
                </a:effectLst>
              </a:rPr>
              <a:t>ROOT CAUSE</a:t>
            </a:r>
          </a:p>
        </p:txBody>
      </p:sp>
      <p:sp>
        <p:nvSpPr>
          <p:cNvPr id="10" name="TextBox 9">
            <a:extLst>
              <a:ext uri="{FF2B5EF4-FFF2-40B4-BE49-F238E27FC236}">
                <a16:creationId xmlns:a16="http://schemas.microsoft.com/office/drawing/2014/main" id="{F8812327-636C-4753-8680-A8898364D124}"/>
              </a:ext>
            </a:extLst>
          </p:cNvPr>
          <p:cNvSpPr txBox="1"/>
          <p:nvPr/>
        </p:nvSpPr>
        <p:spPr>
          <a:xfrm>
            <a:off x="936702" y="6028805"/>
            <a:ext cx="10105564" cy="307777"/>
          </a:xfrm>
          <a:prstGeom prst="rect">
            <a:avLst/>
          </a:prstGeom>
          <a:noFill/>
        </p:spPr>
        <p:txBody>
          <a:bodyPr wrap="square" rtlCol="0">
            <a:spAutoFit/>
          </a:bodyPr>
          <a:lstStyle/>
          <a:p>
            <a:pPr algn="ctr"/>
            <a:r>
              <a:rPr lang="en-US" sz="1400" b="1" dirty="0"/>
              <a:t>Figure 2 </a:t>
            </a:r>
            <a:r>
              <a:rPr lang="en-US" sz="1400" dirty="0"/>
              <a:t>: </a:t>
            </a:r>
            <a:r>
              <a:rPr lang="en-US" sz="1400" b="0" i="0" dirty="0">
                <a:solidFill>
                  <a:srgbClr val="222222"/>
                </a:solidFill>
                <a:effectLst/>
                <a:latin typeface="Open Sans" panose="020B0606030504020204" pitchFamily="34" charset="0"/>
              </a:rPr>
              <a:t>The root cause was identified due to operation roller number 5 damaged.</a:t>
            </a:r>
          </a:p>
        </p:txBody>
      </p:sp>
      <p:pic>
        <p:nvPicPr>
          <p:cNvPr id="3" name="Picture 2" descr="A pen on a metal object&#10;&#10;Description automatically generated">
            <a:extLst>
              <a:ext uri="{FF2B5EF4-FFF2-40B4-BE49-F238E27FC236}">
                <a16:creationId xmlns:a16="http://schemas.microsoft.com/office/drawing/2014/main" id="{E630D2EC-79CE-9620-E8E0-AAFF9DAC8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7241" y="1092823"/>
            <a:ext cx="4661209" cy="4694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3770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400" dirty="0">
                <a:solidFill>
                  <a:srgbClr val="080808"/>
                </a:solidFill>
                <a:effectLst>
                  <a:outerShdw blurRad="38100" dist="38100" dir="2700000" algn="tl">
                    <a:srgbClr val="000000">
                      <a:alpha val="43137"/>
                    </a:srgbClr>
                  </a:outerShdw>
                </a:effectLst>
              </a:rPr>
              <a:t>PLASTICOPY MEASUREMENT</a:t>
            </a:r>
          </a:p>
        </p:txBody>
      </p:sp>
      <p:sp>
        <p:nvSpPr>
          <p:cNvPr id="2" name="TextBox 1">
            <a:extLst>
              <a:ext uri="{FF2B5EF4-FFF2-40B4-BE49-F238E27FC236}">
                <a16:creationId xmlns:a16="http://schemas.microsoft.com/office/drawing/2014/main" id="{39F4B2C0-AB5A-507C-7205-5332CA573C60}"/>
              </a:ext>
            </a:extLst>
          </p:cNvPr>
          <p:cNvSpPr txBox="1"/>
          <p:nvPr/>
        </p:nvSpPr>
        <p:spPr>
          <a:xfrm>
            <a:off x="1108907" y="5762524"/>
            <a:ext cx="10153825" cy="738664"/>
          </a:xfrm>
          <a:prstGeom prst="rect">
            <a:avLst/>
          </a:prstGeom>
          <a:noFill/>
        </p:spPr>
        <p:txBody>
          <a:bodyPr wrap="square" rtlCol="0">
            <a:spAutoFit/>
          </a:bodyPr>
          <a:lstStyle/>
          <a:p>
            <a:pPr algn="ctr" fontAlgn="t"/>
            <a:r>
              <a:rPr lang="en-US" sz="1400" b="1" dirty="0"/>
              <a:t>Figure 3 </a:t>
            </a:r>
            <a:r>
              <a:rPr lang="en-US" sz="1400" dirty="0"/>
              <a:t>: </a:t>
            </a:r>
            <a:r>
              <a:rPr lang="en-US" sz="1400" b="0" i="0" dirty="0">
                <a:solidFill>
                  <a:srgbClr val="222222"/>
                </a:solidFill>
                <a:effectLst/>
                <a:latin typeface="Open Sans" panose="020B0606030504020204" pitchFamily="34" charset="0"/>
              </a:rPr>
              <a:t>According to project acceptance criteria CD_300824C003_str20313584_TR76-78,7C-7D,7F-7H_An_Pressure vault, the maximum allowable criteria for the depth of surface defects is 30um and for the maximum upsetting is 100um. Thus, this defect was accepted as it is.</a:t>
            </a:r>
          </a:p>
        </p:txBody>
      </p:sp>
      <p:pic>
        <p:nvPicPr>
          <p:cNvPr id="4" name="Picture 3" descr="A few white paper on a metal tube&#10;&#10;Description automatically generated">
            <a:extLst>
              <a:ext uri="{FF2B5EF4-FFF2-40B4-BE49-F238E27FC236}">
                <a16:creationId xmlns:a16="http://schemas.microsoft.com/office/drawing/2014/main" id="{89E162B2-6E8D-ADA8-80A8-C4FDCAC89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608" y="1048216"/>
            <a:ext cx="3429000" cy="457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descr="A screen shot of a screen&#10;&#10;Description automatically generated">
            <a:extLst>
              <a:ext uri="{FF2B5EF4-FFF2-40B4-BE49-F238E27FC236}">
                <a16:creationId xmlns:a16="http://schemas.microsoft.com/office/drawing/2014/main" id="{908A455D-D0B9-2618-0507-98699D371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6703" y="1056712"/>
            <a:ext cx="6096000" cy="457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7" name="Table 6">
            <a:extLst>
              <a:ext uri="{FF2B5EF4-FFF2-40B4-BE49-F238E27FC236}">
                <a16:creationId xmlns:a16="http://schemas.microsoft.com/office/drawing/2014/main" id="{1A96E0E6-2D34-160F-3A30-A6F20BB1EA6D}"/>
              </a:ext>
            </a:extLst>
          </p:cNvPr>
          <p:cNvGraphicFramePr>
            <a:graphicFrameLocks noGrp="1"/>
          </p:cNvGraphicFramePr>
          <p:nvPr>
            <p:extLst>
              <p:ext uri="{D42A27DB-BD31-4B8C-83A1-F6EECF244321}">
                <p14:modId xmlns:p14="http://schemas.microsoft.com/office/powerpoint/2010/main" val="3326674113"/>
              </p:ext>
            </p:extLst>
          </p:nvPr>
        </p:nvGraphicFramePr>
        <p:xfrm>
          <a:off x="5323516" y="2356415"/>
          <a:ext cx="1813813" cy="370840"/>
        </p:xfrm>
        <a:graphic>
          <a:graphicData uri="http://schemas.openxmlformats.org/drawingml/2006/table">
            <a:tbl>
              <a:tblPr firstRow="1" bandRow="1">
                <a:tableStyleId>{7DF18680-E054-41AD-8BC1-D1AEF772440D}</a:tableStyleId>
              </a:tblPr>
              <a:tblGrid>
                <a:gridCol w="1813813">
                  <a:extLst>
                    <a:ext uri="{9D8B030D-6E8A-4147-A177-3AD203B41FA5}">
                      <a16:colId xmlns:a16="http://schemas.microsoft.com/office/drawing/2014/main" val="117981327"/>
                    </a:ext>
                  </a:extLst>
                </a:gridCol>
              </a:tblGrid>
              <a:tr h="370840">
                <a:tc>
                  <a:txBody>
                    <a:bodyPr/>
                    <a:lstStyle/>
                    <a:p>
                      <a:r>
                        <a:rPr lang="en-US" dirty="0">
                          <a:solidFill>
                            <a:sysClr val="windowText" lastClr="000000"/>
                          </a:solidFill>
                        </a:rPr>
                        <a:t>Maximum depth</a:t>
                      </a:r>
                    </a:p>
                  </a:txBody>
                  <a:tcPr/>
                </a:tc>
                <a:extLst>
                  <a:ext uri="{0D108BD9-81ED-4DB2-BD59-A6C34878D82A}">
                    <a16:rowId xmlns:a16="http://schemas.microsoft.com/office/drawing/2014/main" val="466604770"/>
                  </a:ext>
                </a:extLst>
              </a:tr>
            </a:tbl>
          </a:graphicData>
        </a:graphic>
      </p:graphicFrame>
      <p:graphicFrame>
        <p:nvGraphicFramePr>
          <p:cNvPr id="9" name="Table 8">
            <a:extLst>
              <a:ext uri="{FF2B5EF4-FFF2-40B4-BE49-F238E27FC236}">
                <a16:creationId xmlns:a16="http://schemas.microsoft.com/office/drawing/2014/main" id="{1E090AE0-6EDD-8CB0-E9CD-2DE198AE05D6}"/>
              </a:ext>
            </a:extLst>
          </p:cNvPr>
          <p:cNvGraphicFramePr>
            <a:graphicFrameLocks noGrp="1"/>
          </p:cNvGraphicFramePr>
          <p:nvPr>
            <p:extLst>
              <p:ext uri="{D42A27DB-BD31-4B8C-83A1-F6EECF244321}">
                <p14:modId xmlns:p14="http://schemas.microsoft.com/office/powerpoint/2010/main" val="632171840"/>
              </p:ext>
            </p:extLst>
          </p:nvPr>
        </p:nvGraphicFramePr>
        <p:xfrm>
          <a:off x="5052168" y="4371068"/>
          <a:ext cx="2207275" cy="370840"/>
        </p:xfrm>
        <a:graphic>
          <a:graphicData uri="http://schemas.openxmlformats.org/drawingml/2006/table">
            <a:tbl>
              <a:tblPr firstRow="1" bandRow="1">
                <a:tableStyleId>{7DF18680-E054-41AD-8BC1-D1AEF772440D}</a:tableStyleId>
              </a:tblPr>
              <a:tblGrid>
                <a:gridCol w="2207275">
                  <a:extLst>
                    <a:ext uri="{9D8B030D-6E8A-4147-A177-3AD203B41FA5}">
                      <a16:colId xmlns:a16="http://schemas.microsoft.com/office/drawing/2014/main" val="117981327"/>
                    </a:ext>
                  </a:extLst>
                </a:gridCol>
              </a:tblGrid>
              <a:tr h="370840">
                <a:tc>
                  <a:txBody>
                    <a:bodyPr/>
                    <a:lstStyle/>
                    <a:p>
                      <a:r>
                        <a:rPr lang="en-US" dirty="0">
                          <a:solidFill>
                            <a:sysClr val="windowText" lastClr="000000"/>
                          </a:solidFill>
                        </a:rPr>
                        <a:t>Maximum upsetting</a:t>
                      </a:r>
                    </a:p>
                  </a:txBody>
                  <a:tcPr/>
                </a:tc>
                <a:extLst>
                  <a:ext uri="{0D108BD9-81ED-4DB2-BD59-A6C34878D82A}">
                    <a16:rowId xmlns:a16="http://schemas.microsoft.com/office/drawing/2014/main" val="466604770"/>
                  </a:ext>
                </a:extLst>
              </a:tr>
            </a:tbl>
          </a:graphicData>
        </a:graphic>
      </p:graphicFrame>
      <p:sp>
        <p:nvSpPr>
          <p:cNvPr id="11" name="Arrow: Curved Left 10">
            <a:extLst>
              <a:ext uri="{FF2B5EF4-FFF2-40B4-BE49-F238E27FC236}">
                <a16:creationId xmlns:a16="http://schemas.microsoft.com/office/drawing/2014/main" id="{A82A97C8-8552-F4D4-04FF-E8BC75E3BA6D}"/>
              </a:ext>
            </a:extLst>
          </p:cNvPr>
          <p:cNvSpPr/>
          <p:nvPr/>
        </p:nvSpPr>
        <p:spPr>
          <a:xfrm rot="19823322">
            <a:off x="7304049" y="2341758"/>
            <a:ext cx="468352" cy="479503"/>
          </a:xfrm>
          <a:prstGeom prst="curvedLeftArrow">
            <a:avLst/>
          </a:prstGeom>
          <a:solidFill>
            <a:srgbClr val="FF0000"/>
          </a:solidFill>
          <a:ln>
            <a:solidFill>
              <a:srgbClr val="0808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row: Down 12">
            <a:extLst>
              <a:ext uri="{FF2B5EF4-FFF2-40B4-BE49-F238E27FC236}">
                <a16:creationId xmlns:a16="http://schemas.microsoft.com/office/drawing/2014/main" id="{16E00166-CE5B-6733-E567-7818B6D13DC4}"/>
              </a:ext>
            </a:extLst>
          </p:cNvPr>
          <p:cNvSpPr/>
          <p:nvPr/>
        </p:nvSpPr>
        <p:spPr>
          <a:xfrm rot="12965963">
            <a:off x="6122016" y="3451302"/>
            <a:ext cx="267630" cy="864011"/>
          </a:xfrm>
          <a:prstGeom prst="downArrow">
            <a:avLst/>
          </a:prstGeom>
          <a:solidFill>
            <a:srgbClr val="FF0000"/>
          </a:solidFill>
          <a:ln>
            <a:solidFill>
              <a:srgbClr val="0808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405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400" dirty="0">
                <a:solidFill>
                  <a:srgbClr val="080808"/>
                </a:solidFill>
                <a:effectLst>
                  <a:outerShdw blurRad="38100" dist="38100" dir="2700000" algn="tl">
                    <a:srgbClr val="000000">
                      <a:alpha val="43137"/>
                    </a:srgbClr>
                  </a:outerShdw>
                </a:effectLst>
              </a:rPr>
              <a:t>AFTER CHANGE NEW ROLLER</a:t>
            </a:r>
          </a:p>
        </p:txBody>
      </p:sp>
      <p:sp>
        <p:nvSpPr>
          <p:cNvPr id="10" name="TextBox 9">
            <a:extLst>
              <a:ext uri="{FF2B5EF4-FFF2-40B4-BE49-F238E27FC236}">
                <a16:creationId xmlns:a16="http://schemas.microsoft.com/office/drawing/2014/main" id="{F8812327-636C-4753-8680-A8898364D124}"/>
              </a:ext>
            </a:extLst>
          </p:cNvPr>
          <p:cNvSpPr txBox="1"/>
          <p:nvPr/>
        </p:nvSpPr>
        <p:spPr>
          <a:xfrm>
            <a:off x="2938925" y="5872686"/>
            <a:ext cx="6026656" cy="307777"/>
          </a:xfrm>
          <a:prstGeom prst="rect">
            <a:avLst/>
          </a:prstGeom>
          <a:noFill/>
        </p:spPr>
        <p:txBody>
          <a:bodyPr wrap="square" rtlCol="0">
            <a:spAutoFit/>
          </a:bodyPr>
          <a:lstStyle/>
          <a:p>
            <a:pPr algn="l" fontAlgn="t"/>
            <a:r>
              <a:rPr lang="en-US" sz="1400" b="1" dirty="0"/>
              <a:t>Figure 4 </a:t>
            </a:r>
            <a:r>
              <a:rPr lang="en-US" sz="1400" dirty="0"/>
              <a:t>: </a:t>
            </a:r>
            <a:r>
              <a:rPr lang="en-US" sz="1400" b="0" i="0" dirty="0">
                <a:solidFill>
                  <a:srgbClr val="222222"/>
                </a:solidFill>
                <a:effectLst/>
                <a:latin typeface="Open Sans" panose="020B0606030504020204" pitchFamily="34" charset="0"/>
              </a:rPr>
              <a:t>Condition of zeta layer after changed new operation roller</a:t>
            </a:r>
          </a:p>
        </p:txBody>
      </p:sp>
      <p:pic>
        <p:nvPicPr>
          <p:cNvPr id="7" name="Picture 6" descr="A close up of a metal coil&#10;&#10;Description automatically generated">
            <a:extLst>
              <a:ext uri="{FF2B5EF4-FFF2-40B4-BE49-F238E27FC236}">
                <a16:creationId xmlns:a16="http://schemas.microsoft.com/office/drawing/2014/main" id="{C3C6D7CD-3124-B8B1-D259-173DA1EA2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5236" y="1165302"/>
            <a:ext cx="6096000" cy="457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98392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6" cy="6857999"/>
          </a:xfrm>
          <a:prstGeom prst="rect">
            <a:avLst/>
          </a:prstGeom>
        </p:spPr>
      </p:pic>
      <p:sp>
        <p:nvSpPr>
          <p:cNvPr id="2" name="Title 1"/>
          <p:cNvSpPr>
            <a:spLocks noGrp="1"/>
          </p:cNvSpPr>
          <p:nvPr>
            <p:ph type="title"/>
          </p:nvPr>
        </p:nvSpPr>
        <p:spPr>
          <a:xfrm>
            <a:off x="2191809" y="2794000"/>
            <a:ext cx="4958291" cy="1079500"/>
          </a:xfrm>
        </p:spPr>
        <p:txBody>
          <a:bodyPr/>
          <a:lstStyle/>
          <a:p>
            <a:pPr algn="ctr"/>
            <a:br>
              <a:rPr lang="en-US" sz="4800" b="1" dirty="0"/>
            </a:br>
            <a:r>
              <a:rPr lang="en-US" sz="4800" b="1" dirty="0"/>
              <a:t>THANK YOU</a:t>
            </a:r>
          </a:p>
        </p:txBody>
      </p:sp>
    </p:spTree>
    <p:extLst>
      <p:ext uri="{BB962C8B-B14F-4D97-AF65-F5344CB8AC3E}">
        <p14:creationId xmlns:p14="http://schemas.microsoft.com/office/powerpoint/2010/main" val="1886797236"/>
      </p:ext>
    </p:extLst>
  </p:cSld>
  <p:clrMapOvr>
    <a:masterClrMapping/>
  </p:clrMapOvr>
</p:sld>
</file>

<file path=ppt/theme/theme1.xml><?xml version="1.0" encoding="utf-8"?>
<a:theme xmlns:a="http://schemas.openxmlformats.org/drawingml/2006/main" name="Text">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72A50781-4C99-4C03-83CD-FA397A9A26E8}"/>
    </a:ext>
  </a:extLst>
</a:theme>
</file>

<file path=ppt/theme/theme2.xml><?xml version="1.0" encoding="utf-8"?>
<a:theme xmlns:a="http://schemas.openxmlformats.org/drawingml/2006/main" name="Cover ">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264E4DFC-9410-47E4-9B7F-A5442DBCB59B}"/>
    </a:ext>
  </a:extLst>
</a:theme>
</file>

<file path=ppt/theme/theme3.xml><?xml version="1.0" encoding="utf-8"?>
<a:theme xmlns:a="http://schemas.openxmlformats.org/drawingml/2006/main" name="Cover and Photo">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9AFBA3D3-A0A6-4536-B45E-40FDC3D467A0}"/>
    </a:ext>
  </a:extLst>
</a:theme>
</file>

<file path=ppt/theme/theme4.xml><?xml version="1.0" encoding="utf-8"?>
<a:theme xmlns:a="http://schemas.openxmlformats.org/drawingml/2006/main" name="Agenda and Section">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EB1971BE-F4B0-49A0-9372-405B1B105A4E}"/>
    </a:ext>
  </a:extLst>
</a:theme>
</file>

<file path=ppt/theme/theme5.xml><?xml version="1.0" encoding="utf-8"?>
<a:theme xmlns:a="http://schemas.openxmlformats.org/drawingml/2006/main" name="Closing Slide Master">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1A4948F9-4CBF-4DD8-A123-ADDEB5543F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TotalTime>
  <Words>338</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8</vt:i4>
      </vt:variant>
    </vt:vector>
  </HeadingPairs>
  <TitlesOfParts>
    <vt:vector size="17" baseType="lpstr">
      <vt:lpstr>Arial</vt:lpstr>
      <vt:lpstr>Calibri</vt:lpstr>
      <vt:lpstr>Open Sans</vt:lpstr>
      <vt:lpstr>Webdings</vt:lpstr>
      <vt:lpstr>Text</vt:lpstr>
      <vt:lpstr>Cover </vt:lpstr>
      <vt:lpstr>Cover and Photo</vt:lpstr>
      <vt:lpstr>Agenda and Section</vt:lpstr>
      <vt:lpstr>Closing Slide Master</vt:lpstr>
      <vt:lpstr>NCR - 9505</vt:lpstr>
      <vt:lpstr>Pipe section / Details</vt:lpstr>
      <vt:lpstr>Overview of anomaly</vt:lpstr>
      <vt:lpstr>DEFECT PHOTO</vt:lpstr>
      <vt:lpstr>ROOT CAUSE</vt:lpstr>
      <vt:lpstr>PLASTICOPY MEASUREMENT</vt:lpstr>
      <vt:lpstr>AFTER CHANGE NEW ROLLER</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title (32pt)</dc:title>
  <dc:creator>Sandy Enoch</dc:creator>
  <cp:lastModifiedBy>MuhammadAiman Mahzan</cp:lastModifiedBy>
  <cp:revision>566</cp:revision>
  <dcterms:created xsi:type="dcterms:W3CDTF">2017-01-06T20:47:07Z</dcterms:created>
  <dcterms:modified xsi:type="dcterms:W3CDTF">2024-05-24T06:30:36Z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98a045-e53d-4dce-a8d7-f41d40d412ce_Enabled">
    <vt:lpwstr>True</vt:lpwstr>
  </property>
  <property fmtid="{D5CDD505-2E9C-101B-9397-08002B2CF9AE}" pid="3" name="MSIP_Label_c998a045-e53d-4dce-a8d7-f41d40d412ce_SiteId">
    <vt:lpwstr>0804c951-93a0-405d-80e4-fa87c7551d6a</vt:lpwstr>
  </property>
  <property fmtid="{D5CDD505-2E9C-101B-9397-08002B2CF9AE}" pid="4" name="MSIP_Label_c998a045-e53d-4dce-a8d7-f41d40d412ce_Owner">
    <vt:lpwstr>muhamadrazif.abdullah@technipfmc.com</vt:lpwstr>
  </property>
  <property fmtid="{D5CDD505-2E9C-101B-9397-08002B2CF9AE}" pid="5" name="MSIP_Label_c998a045-e53d-4dce-a8d7-f41d40d412ce_SetDate">
    <vt:lpwstr>2021-06-17T02:46:57.0083478Z</vt:lpwstr>
  </property>
  <property fmtid="{D5CDD505-2E9C-101B-9397-08002B2CF9AE}" pid="6" name="MSIP_Label_c998a045-e53d-4dce-a8d7-f41d40d412ce_Name">
    <vt:lpwstr>General</vt:lpwstr>
  </property>
  <property fmtid="{D5CDD505-2E9C-101B-9397-08002B2CF9AE}" pid="7" name="MSIP_Label_c998a045-e53d-4dce-a8d7-f41d40d412ce_Application">
    <vt:lpwstr>Microsoft Azure Information Protection</vt:lpwstr>
  </property>
  <property fmtid="{D5CDD505-2E9C-101B-9397-08002B2CF9AE}" pid="8" name="MSIP_Label_c998a045-e53d-4dce-a8d7-f41d40d412ce_Extended_MSFT_Method">
    <vt:lpwstr>Automatic</vt:lpwstr>
  </property>
  <property fmtid="{D5CDD505-2E9C-101B-9397-08002B2CF9AE}" pid="9" name="MSIP_Label_3b48b937-0ae3-46f5-b32e-f3232b5be847_Enabled">
    <vt:lpwstr>True</vt:lpwstr>
  </property>
  <property fmtid="{D5CDD505-2E9C-101B-9397-08002B2CF9AE}" pid="10" name="MSIP_Label_3b48b937-0ae3-46f5-b32e-f3232b5be847_SiteId">
    <vt:lpwstr>9179d01a-e94c-4488-b5f0-4554bc474f8c</vt:lpwstr>
  </property>
  <property fmtid="{D5CDD505-2E9C-101B-9397-08002B2CF9AE}" pid="11" name="MSIP_Label_3b48b937-0ae3-46f5-b32e-f3232b5be847_Owner">
    <vt:lpwstr>muizuddin.mohdnoh@technipfmc.com</vt:lpwstr>
  </property>
  <property fmtid="{D5CDD505-2E9C-101B-9397-08002B2CF9AE}" pid="12" name="MSIP_Label_3b48b937-0ae3-46f5-b32e-f3232b5be847_SetDate">
    <vt:lpwstr>2019-07-26T17:37:22.3670000Z</vt:lpwstr>
  </property>
  <property fmtid="{D5CDD505-2E9C-101B-9397-08002B2CF9AE}" pid="13" name="MSIP_Label_3b48b937-0ae3-46f5-b32e-f3232b5be847_Name">
    <vt:lpwstr>General</vt:lpwstr>
  </property>
  <property fmtid="{D5CDD505-2E9C-101B-9397-08002B2CF9AE}" pid="14" name="MSIP_Label_3b48b937-0ae3-46f5-b32e-f3232b5be847_Application">
    <vt:lpwstr>Microsoft Azure Information Protection</vt:lpwstr>
  </property>
  <property fmtid="{D5CDD505-2E9C-101B-9397-08002B2CF9AE}" pid="15" name="MSIP_Label_3b48b937-0ae3-46f5-b32e-f3232b5be847_Extended_MSFT_Method">
    <vt:lpwstr>Automatic</vt:lpwstr>
  </property>
  <property fmtid="{D5CDD505-2E9C-101B-9397-08002B2CF9AE}" pid="16" name="MSIP_Label_8caabacf-b917-4a45-9a5f-ed3a53d2eeb7_Enabled">
    <vt:lpwstr>true</vt:lpwstr>
  </property>
  <property fmtid="{D5CDD505-2E9C-101B-9397-08002B2CF9AE}" pid="17" name="MSIP_Label_8caabacf-b917-4a45-9a5f-ed3a53d2eeb7_SetDate">
    <vt:lpwstr>2021-12-20T23:04:29Z</vt:lpwstr>
  </property>
  <property fmtid="{D5CDD505-2E9C-101B-9397-08002B2CF9AE}" pid="18" name="MSIP_Label_8caabacf-b917-4a45-9a5f-ed3a53d2eeb7_Method">
    <vt:lpwstr>Standard</vt:lpwstr>
  </property>
  <property fmtid="{D5CDD505-2E9C-101B-9397-08002B2CF9AE}" pid="19" name="MSIP_Label_8caabacf-b917-4a45-9a5f-ed3a53d2eeb7_Name">
    <vt:lpwstr>Anyone - No Protection</vt:lpwstr>
  </property>
  <property fmtid="{D5CDD505-2E9C-101B-9397-08002B2CF9AE}" pid="20" name="MSIP_Label_8caabacf-b917-4a45-9a5f-ed3a53d2eeb7_SiteId">
    <vt:lpwstr>0804c951-93a0-405d-80e4-fa87c7551d6a</vt:lpwstr>
  </property>
  <property fmtid="{D5CDD505-2E9C-101B-9397-08002B2CF9AE}" pid="21" name="MSIP_Label_8caabacf-b917-4a45-9a5f-ed3a53d2eeb7_ContentBits">
    <vt:lpwstr>0</vt:lpwstr>
  </property>
</Properties>
</file>