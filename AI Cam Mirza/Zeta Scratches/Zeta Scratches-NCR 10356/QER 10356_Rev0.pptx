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6" r:id="rId3"/>
    <p:sldMasterId id="2147483710" r:id="rId4"/>
    <p:sldMasterId id="2147483723" r:id="rId5"/>
  </p:sldMasterIdLst>
  <p:notesMasterIdLst>
    <p:notesMasterId r:id="rId12"/>
  </p:notesMasterIdLst>
  <p:sldIdLst>
    <p:sldId id="276" r:id="rId6"/>
    <p:sldId id="281" r:id="rId7"/>
    <p:sldId id="285" r:id="rId8"/>
    <p:sldId id="288" r:id="rId9"/>
    <p:sldId id="310"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FF"/>
    <a:srgbClr val="CB2C30"/>
    <a:srgbClr val="494D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58" autoAdjust="0"/>
    <p:restoredTop sz="96120" autoAdjust="0"/>
  </p:normalViewPr>
  <p:slideViewPr>
    <p:cSldViewPr snapToGrid="0">
      <p:cViewPr varScale="1">
        <p:scale>
          <a:sx n="114" d="100"/>
          <a:sy n="114" d="100"/>
        </p:scale>
        <p:origin x="732" y="102"/>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6BAAD-1FB8-463E-98EC-4A9AB5876F30}" type="datetimeFigureOut">
              <a:rPr lang="en-US" smtClean="0"/>
              <a:t>05-Nov-24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A596D-E0A5-4850-848A-42B87D1D7570}" type="slidenum">
              <a:rPr lang="en-US" smtClean="0"/>
              <a:t>‹#›</a:t>
            </a:fld>
            <a:endParaRPr lang="en-US"/>
          </a:p>
        </p:txBody>
      </p:sp>
    </p:spTree>
    <p:extLst>
      <p:ext uri="{BB962C8B-B14F-4D97-AF65-F5344CB8AC3E}">
        <p14:creationId xmlns:p14="http://schemas.microsoft.com/office/powerpoint/2010/main" val="151818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54665" y="1632985"/>
            <a:ext cx="11125200" cy="3894138"/>
          </a:xfrm>
          <a:prstGeom prst="rect">
            <a:avLst/>
          </a:prstGeom>
        </p:spPr>
        <p:txBody>
          <a:bodyPr/>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2"/>
          <p:cNvSpPr>
            <a:spLocks noGrp="1"/>
          </p:cNvSpPr>
          <p:nvPr>
            <p:ph type="title"/>
          </p:nvPr>
        </p:nvSpPr>
        <p:spPr>
          <a:xfrm>
            <a:off x="533400" y="156654"/>
            <a:ext cx="11125200" cy="91503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470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33400" y="1632985"/>
            <a:ext cx="11125200" cy="2862755"/>
          </a:xfrm>
          <a:prstGeom prst="rect">
            <a:avLst/>
          </a:prstGeom>
        </p:spPr>
        <p:txBody>
          <a:bodyPr numCol="2"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2 Column Text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8"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392016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533400" y="1632985"/>
            <a:ext cx="11125200" cy="3894138"/>
          </a:xfrm>
          <a:prstGeom prst="rect">
            <a:avLst/>
          </a:prstGeom>
        </p:spPr>
        <p:txBody>
          <a:bodyPr numCol="3"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3 Column Text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6"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44992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 and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33400" y="1521169"/>
            <a:ext cx="2866541" cy="2775051"/>
          </a:xfrm>
          <a:prstGeom prst="rect">
            <a:avLst/>
          </a:prstGeom>
        </p:spPr>
        <p:txBody>
          <a:bodyPr/>
          <a:lstStyle/>
          <a:p>
            <a:r>
              <a:rPr lang="en-US"/>
              <a:t>Click icon to add picture</a:t>
            </a:r>
          </a:p>
        </p:txBody>
      </p:sp>
      <p:sp>
        <p:nvSpPr>
          <p:cNvPr id="13" name="Picture Placeholder 2"/>
          <p:cNvSpPr>
            <a:spLocks noGrp="1"/>
          </p:cNvSpPr>
          <p:nvPr>
            <p:ph type="pic" sz="quarter" idx="11"/>
          </p:nvPr>
        </p:nvSpPr>
        <p:spPr>
          <a:xfrm>
            <a:off x="4662729" y="1521169"/>
            <a:ext cx="2866541" cy="2775051"/>
          </a:xfrm>
          <a:prstGeom prst="rect">
            <a:avLst/>
          </a:prstGeom>
        </p:spPr>
        <p:txBody>
          <a:bodyPr/>
          <a:lstStyle/>
          <a:p>
            <a:r>
              <a:rPr lang="en-US"/>
              <a:t>Click icon to add picture</a:t>
            </a:r>
          </a:p>
        </p:txBody>
      </p:sp>
      <p:sp>
        <p:nvSpPr>
          <p:cNvPr id="14" name="Picture Placeholder 2"/>
          <p:cNvSpPr>
            <a:spLocks noGrp="1"/>
          </p:cNvSpPr>
          <p:nvPr>
            <p:ph type="pic" sz="quarter" idx="12"/>
          </p:nvPr>
        </p:nvSpPr>
        <p:spPr>
          <a:xfrm>
            <a:off x="8792059" y="1525788"/>
            <a:ext cx="2866541" cy="2775051"/>
          </a:xfrm>
          <a:prstGeom prst="rect">
            <a:avLst/>
          </a:prstGeom>
        </p:spPr>
        <p:txBody>
          <a:bodyPr/>
          <a:lstStyle/>
          <a:p>
            <a:r>
              <a:rPr lang="en-US"/>
              <a:t>Click icon to add picture</a:t>
            </a:r>
          </a:p>
        </p:txBody>
      </p:sp>
      <p:sp>
        <p:nvSpPr>
          <p:cNvPr id="4" name="Text Placeholder 3"/>
          <p:cNvSpPr>
            <a:spLocks noGrp="1"/>
          </p:cNvSpPr>
          <p:nvPr>
            <p:ph type="body" sz="quarter" idx="13" hasCustomPrompt="1"/>
          </p:nvPr>
        </p:nvSpPr>
        <p:spPr>
          <a:xfrm>
            <a:off x="533400" y="4425696"/>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8" name="Text Placeholder 3"/>
          <p:cNvSpPr>
            <a:spLocks noGrp="1"/>
          </p:cNvSpPr>
          <p:nvPr>
            <p:ph type="body" sz="quarter" idx="14" hasCustomPrompt="1"/>
          </p:nvPr>
        </p:nvSpPr>
        <p:spPr>
          <a:xfrm>
            <a:off x="4662488"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9" name="Text Placeholder 3"/>
          <p:cNvSpPr>
            <a:spLocks noGrp="1"/>
          </p:cNvSpPr>
          <p:nvPr>
            <p:ph type="body" sz="quarter" idx="15" hasCustomPrompt="1"/>
          </p:nvPr>
        </p:nvSpPr>
        <p:spPr>
          <a:xfrm>
            <a:off x="8791575"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0195864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and Photo">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658630" y="2231346"/>
            <a:ext cx="5800725" cy="916588"/>
          </a:xfrm>
          <a:prstGeom prst="rect">
            <a:avLst/>
          </a:prstGeom>
        </p:spPr>
        <p:txBody>
          <a:bodyPr/>
          <a:lstStyle>
            <a:lvl1pPr>
              <a:lnSpc>
                <a:spcPts val="3500"/>
              </a:lnSpc>
              <a:defRPr sz="320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6" name="Text Placeholder 10"/>
          <p:cNvSpPr>
            <a:spLocks noGrp="1"/>
          </p:cNvSpPr>
          <p:nvPr>
            <p:ph type="body" sz="quarter" idx="10" hasCustomPrompt="1"/>
          </p:nvPr>
        </p:nvSpPr>
        <p:spPr>
          <a:xfrm>
            <a:off x="658629" y="3498667"/>
            <a:ext cx="5800725" cy="530225"/>
          </a:xfrm>
          <a:prstGeom prst="rect">
            <a:avLst/>
          </a:prstGeom>
        </p:spPr>
        <p:txBody>
          <a:bodyPr/>
          <a:lstStyle>
            <a:lvl1pPr marL="0" indent="0">
              <a:buNone/>
              <a:defRPr sz="1800" b="0">
                <a:latin typeface="Arial" panose="020B0604020202020204" pitchFamily="34" charset="0"/>
                <a:cs typeface="Arial" panose="020B0604020202020204" pitchFamily="34" charset="0"/>
              </a:defRPr>
            </a:lvl1pPr>
          </a:lstStyle>
          <a:p>
            <a:pPr lvl="0"/>
            <a:r>
              <a:rPr lang="en-US" dirty="0"/>
              <a:t>Subtitle (18pt)</a:t>
            </a:r>
          </a:p>
        </p:txBody>
      </p:sp>
      <p:sp>
        <p:nvSpPr>
          <p:cNvPr id="7" name="Text Placeholder 12"/>
          <p:cNvSpPr>
            <a:spLocks noGrp="1"/>
          </p:cNvSpPr>
          <p:nvPr>
            <p:ph type="body" sz="quarter" idx="11" hasCustomPrompt="1"/>
          </p:nvPr>
        </p:nvSpPr>
        <p:spPr>
          <a:xfrm>
            <a:off x="673619" y="4432091"/>
            <a:ext cx="2579247" cy="237346"/>
          </a:xfrm>
          <a:prstGeom prst="rect">
            <a:avLst/>
          </a:prstGeom>
        </p:spPr>
        <p:txBody>
          <a:bodyPr/>
          <a:lstStyle>
            <a:lvl1pPr marL="0" indent="0">
              <a:buNone/>
              <a:defRPr sz="1200" b="0">
                <a:latin typeface="Arial" panose="020B0604020202020204" pitchFamily="34" charset="0"/>
                <a:cs typeface="Arial" panose="020B0604020202020204" pitchFamily="34" charset="0"/>
              </a:defRPr>
            </a:lvl1pPr>
          </a:lstStyle>
          <a:p>
            <a:pPr lvl="0"/>
            <a:r>
              <a:rPr lang="en-US" dirty="0"/>
              <a:t>Date (12pt)</a:t>
            </a:r>
          </a:p>
        </p:txBody>
      </p:sp>
    </p:spTree>
    <p:extLst>
      <p:ext uri="{BB962C8B-B14F-4D97-AF65-F5344CB8AC3E}">
        <p14:creationId xmlns:p14="http://schemas.microsoft.com/office/powerpoint/2010/main" val="3004092789"/>
      </p:ext>
    </p:extLst>
  </p:cSld>
  <p:clrMapOvr>
    <a:masterClrMapping/>
  </p:clrMapOvr>
  <p:extLst>
    <p:ext uri="{DCECCB84-F9BA-43D5-87BE-67443E8EF086}">
      <p15:sldGuideLst xmlns:p15="http://schemas.microsoft.com/office/powerpoint/2012/main">
        <p15:guide id="1" orient="horz" pos="2160">
          <p15:clr>
            <a:srgbClr val="FBAE40"/>
          </p15:clr>
        </p15:guide>
        <p15:guide id="2" pos="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userDrawn="1">
            <p:ph type="title"/>
          </p:nvPr>
        </p:nvSpPr>
        <p:spPr>
          <a:xfrm>
            <a:off x="533400" y="354108"/>
            <a:ext cx="11125200" cy="951611"/>
          </a:xfrm>
          <a:prstGeom prst="rect">
            <a:avLst/>
          </a:prstGeom>
        </p:spPr>
        <p:txBody>
          <a:bodyPr/>
          <a:lstStyle>
            <a:lvl1pPr>
              <a:defRPr sz="3200">
                <a:solidFill>
                  <a:schemeClr val="bg1"/>
                </a:solidFill>
              </a:defRPr>
            </a:lvl1pPr>
          </a:lstStyle>
          <a:p>
            <a:r>
              <a:rPr lang="en-US" dirty="0"/>
              <a:t>Click to edit Master title style</a:t>
            </a:r>
          </a:p>
        </p:txBody>
      </p:sp>
      <p:grpSp>
        <p:nvGrpSpPr>
          <p:cNvPr id="2" name="Group 1"/>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4078941"/>
            <a:ext cx="2940984" cy="294098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892" y="6588073"/>
            <a:ext cx="1371600" cy="253257"/>
          </a:xfrm>
          <a:prstGeom prst="rect">
            <a:avLst/>
          </a:prstGeom>
        </p:spPr>
      </p:pic>
    </p:spTree>
    <p:extLst>
      <p:ext uri="{BB962C8B-B14F-4D97-AF65-F5344CB8AC3E}">
        <p14:creationId xmlns:p14="http://schemas.microsoft.com/office/powerpoint/2010/main" val="463028820"/>
      </p:ext>
    </p:extLst>
  </p:cSld>
  <p:clrMapOvr>
    <a:masterClrMapping/>
  </p:clrMapOvr>
  <p:extLst>
    <p:ext uri="{DCECCB84-F9BA-43D5-87BE-67443E8EF086}">
      <p15:sldGuideLst xmlns:p15="http://schemas.microsoft.com/office/powerpoint/2012/main">
        <p15:guide id="1" orient="horz" pos="1152" userDrawn="1">
          <p15:clr>
            <a:srgbClr val="FBAE40"/>
          </p15:clr>
        </p15:guide>
        <p15:guide id="2" pos="73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er Grey">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7"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9"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821698"/>
      </p:ext>
    </p:extLst>
  </p:cSld>
  <p:clrMapOvr>
    <a:masterClrMapping/>
  </p:clrMapOvr>
  <p:extLst>
    <p:ext uri="{DCECCB84-F9BA-43D5-87BE-67443E8EF086}">
      <p15:sldGuideLst xmlns:p15="http://schemas.microsoft.com/office/powerpoint/2012/main">
        <p15:guide id="1" orient="horz" pos="1152">
          <p15:clr>
            <a:srgbClr val="FBAE40"/>
          </p15:clr>
        </p15:guide>
        <p15:guide id="2" pos="73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Red">
    <p:bg>
      <p:bgPr>
        <a:solidFill>
          <a:schemeClr val="accent2"/>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50866270"/>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2452652944"/>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er Purple">
    <p:bg>
      <p:bgPr>
        <a:solidFill>
          <a:schemeClr val="tx2"/>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1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1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436081"/>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Message Take-aw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88006"/>
            <a:ext cx="7476744" cy="3222625"/>
          </a:xfrm>
          <a:prstGeom prst="rect">
            <a:avLst/>
          </a:prstGeom>
        </p:spPr>
        <p:txBody>
          <a:bodyPr/>
          <a:lstStyle>
            <a:lvl1pPr>
              <a:lnSpc>
                <a:spcPct val="100000"/>
              </a:lnSpc>
              <a:defRPr sz="3200">
                <a:solidFill>
                  <a:schemeClr val="bg1"/>
                </a:solidFill>
              </a:defRPr>
            </a:lvl1pPr>
          </a:lstStyle>
          <a:p>
            <a:r>
              <a:rPr lang="en-US" dirty="0"/>
              <a:t>Click to edit Master title style</a:t>
            </a:r>
          </a:p>
        </p:txBody>
      </p:sp>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1912782861"/>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22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953818"/>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latin typeface="Arial" panose="020B0604020202020204" pitchFamily="34" charset="0"/>
                <a:cs typeface="Arial" panose="020B0604020202020204" pitchFamily="34" charset="0"/>
              </a:rPr>
              <a:t>Page</a:t>
            </a:r>
            <a:r>
              <a:rPr lang="en-US" sz="900" baseline="0" dirty="0">
                <a:latin typeface="Arial" panose="020B0604020202020204" pitchFamily="34" charset="0"/>
                <a:cs typeface="Arial" panose="020B0604020202020204" pitchFamily="34" charset="0"/>
              </a:rPr>
              <a:t> footer text  </a:t>
            </a:r>
            <a:r>
              <a:rPr lang="en-US" sz="900" dirty="0">
                <a:latin typeface="Arial" panose="020B0604020202020204" pitchFamily="34" charset="0"/>
                <a:cs typeface="Arial" panose="020B0604020202020204" pitchFamily="34" charset="0"/>
              </a:rPr>
              <a:t> |  </a:t>
            </a:r>
            <a:fld id="{11B427C5-C2E3-4C10-899D-ACC0DA09E6A6}" type="slidenum">
              <a:rPr lang="en-US" sz="900" smtClean="0">
                <a:latin typeface="Arial" panose="020B0604020202020204" pitchFamily="34" charset="0"/>
                <a:cs typeface="Arial" panose="020B0604020202020204" pitchFamily="34" charset="0"/>
              </a:rPr>
              <a:pPr algn="r"/>
              <a:t>‹#›</a:t>
            </a:fld>
            <a:endParaRPr lang="en-US" sz="900" dirty="0">
              <a:latin typeface="Arial" panose="020B0604020202020204" pitchFamily="34" charset="0"/>
              <a:cs typeface="Arial" panose="020B0604020202020204" pitchFamily="34" charset="0"/>
            </a:endParaRPr>
          </a:p>
        </p:txBody>
      </p:sp>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322939398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661" r:id="rId4"/>
  </p:sldLayoutIdLst>
  <p:txStyles>
    <p:titleStyle>
      <a:lvl1pPr algn="l" defTabSz="914400" rtl="0" eaLnBrk="1" latinLnBrk="0" hangingPunct="1">
        <a:lnSpc>
          <a:spcPct val="90000"/>
        </a:lnSpc>
        <a:spcBef>
          <a:spcPct val="0"/>
        </a:spcBef>
        <a:buNone/>
        <a:defRPr sz="32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pos="7152" userDrawn="1">
          <p15:clr>
            <a:srgbClr val="F26B43"/>
          </p15:clr>
        </p15:guide>
        <p15:guide id="3" orient="horz" pos="3864" userDrawn="1">
          <p15:clr>
            <a:srgbClr val="F26B43"/>
          </p15:clr>
        </p15:guide>
        <p15:guide id="4" orient="horz" pos="456" userDrawn="1">
          <p15:clr>
            <a:srgbClr val="F26B43"/>
          </p15:clr>
        </p15:guide>
        <p15:guide id="5"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92476" y="0"/>
            <a:ext cx="9137356" cy="6867234"/>
            <a:chOff x="25893" y="0"/>
            <a:chExt cx="9137356" cy="6867234"/>
          </a:xfrm>
        </p:grpSpPr>
        <p:sp>
          <p:nvSpPr>
            <p:cNvPr id="8" name="Rectangle 7"/>
            <p:cNvSpPr/>
            <p:nvPr userDrawn="1"/>
          </p:nvSpPr>
          <p:spPr>
            <a:xfrm>
              <a:off x="2685094" y="1285875"/>
              <a:ext cx="6478155" cy="5572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93" y="0"/>
              <a:ext cx="9133010" cy="6867234"/>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338378214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1288781904"/>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solidFill>
                  <a:schemeClr val="bg1"/>
                </a:solidFill>
                <a:latin typeface="Arial" panose="020B0604020202020204" pitchFamily="34" charset="0"/>
                <a:cs typeface="Arial" panose="020B0604020202020204" pitchFamily="34" charset="0"/>
              </a:rPr>
              <a:t>Page</a:t>
            </a:r>
            <a:r>
              <a:rPr lang="en-US" sz="900" baseline="0" dirty="0">
                <a:solidFill>
                  <a:schemeClr val="bg1"/>
                </a:solidFill>
                <a:latin typeface="Arial" panose="020B0604020202020204" pitchFamily="34" charset="0"/>
                <a:cs typeface="Arial" panose="020B0604020202020204" pitchFamily="34" charset="0"/>
              </a:rPr>
              <a:t> footer text  </a:t>
            </a:r>
            <a:r>
              <a:rPr lang="en-US" sz="900" dirty="0">
                <a:solidFill>
                  <a:schemeClr val="bg1"/>
                </a:solidFill>
                <a:latin typeface="Arial" panose="020B0604020202020204" pitchFamily="34" charset="0"/>
                <a:cs typeface="Arial" panose="020B0604020202020204" pitchFamily="34" charset="0"/>
              </a:rPr>
              <a:t> |  </a:t>
            </a:r>
            <a:fld id="{11B427C5-C2E3-4C10-899D-ACC0DA09E6A6}" type="slidenum">
              <a:rPr lang="en-US" sz="900" smtClean="0">
                <a:solidFill>
                  <a:schemeClr val="bg1"/>
                </a:solidFill>
                <a:latin typeface="Arial" panose="020B0604020202020204" pitchFamily="34" charset="0"/>
                <a:cs typeface="Arial" panose="020B0604020202020204" pitchFamily="34" charset="0"/>
              </a:rPr>
              <a:pPr algn="r"/>
              <a:t>‹#›</a:t>
            </a:fld>
            <a:endParaRPr lang="en-US" sz="900" dirty="0">
              <a:solidFill>
                <a:schemeClr val="bg1"/>
              </a:solidFill>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475946878"/>
      </p:ext>
    </p:extLst>
  </p:cSld>
  <p:clrMap bg1="lt1" tx1="dk1" bg2="lt2" tx2="dk2" accent1="accent1" accent2="accent2" accent3="accent3" accent4="accent4" accent5="accent5" accent6="accent6" hlink="hlink" folHlink="folHlink"/>
  <p:sldLayoutIdLst>
    <p:sldLayoutId id="2147483715" r:id="rId1"/>
    <p:sldLayoutId id="2147483721" r:id="rId2"/>
    <p:sldLayoutId id="2147483712" r:id="rId3"/>
    <p:sldLayoutId id="2147483713" r:id="rId4"/>
    <p:sldLayoutId id="2147483714" r:id="rId5"/>
    <p:sldLayoutId id="2147483722" r:id="rId6"/>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orient="horz" pos="456" userDrawn="1">
          <p15:clr>
            <a:srgbClr val="F26B43"/>
          </p15:clr>
        </p15:guide>
        <p15:guide id="3" pos="734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96712" y="3168091"/>
            <a:ext cx="2972980" cy="548939"/>
          </a:xfrm>
          <a:prstGeom prst="rect">
            <a:avLst/>
          </a:prstGeom>
        </p:spPr>
      </p:pic>
    </p:spTree>
    <p:extLst>
      <p:ext uri="{BB962C8B-B14F-4D97-AF65-F5344CB8AC3E}">
        <p14:creationId xmlns:p14="http://schemas.microsoft.com/office/powerpoint/2010/main" val="356312966"/>
      </p:ext>
    </p:extLst>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353" y="3174"/>
            <a:ext cx="5736165" cy="6857999"/>
          </a:xfrm>
          <a:prstGeom prst="rect">
            <a:avLst/>
          </a:prstGeom>
        </p:spPr>
      </p:pic>
      <p:sp>
        <p:nvSpPr>
          <p:cNvPr id="11" name="Title 8"/>
          <p:cNvSpPr>
            <a:spLocks noGrp="1"/>
          </p:cNvSpPr>
          <p:nvPr>
            <p:ph type="title"/>
          </p:nvPr>
        </p:nvSpPr>
        <p:spPr>
          <a:xfrm>
            <a:off x="562763" y="2840945"/>
            <a:ext cx="4798688" cy="600754"/>
          </a:xfrm>
        </p:spPr>
        <p:txBody>
          <a:bodyPr/>
          <a:lstStyle/>
          <a:p>
            <a:r>
              <a:rPr lang="en-US" b="1" dirty="0"/>
              <a:t>QER 10356</a:t>
            </a:r>
            <a:endParaRPr lang="en-US" dirty="0">
              <a:effectLst/>
            </a:endParaRPr>
          </a:p>
        </p:txBody>
      </p:sp>
      <p:sp>
        <p:nvSpPr>
          <p:cNvPr id="15" name="Text Placeholder 9"/>
          <p:cNvSpPr>
            <a:spLocks noGrp="1"/>
          </p:cNvSpPr>
          <p:nvPr>
            <p:ph type="body" sz="quarter" idx="10"/>
          </p:nvPr>
        </p:nvSpPr>
        <p:spPr>
          <a:xfrm>
            <a:off x="580570" y="3416299"/>
            <a:ext cx="7180679" cy="317501"/>
          </a:xfrm>
        </p:spPr>
        <p:txBody>
          <a:bodyPr/>
          <a:lstStyle/>
          <a:p>
            <a:r>
              <a:rPr lang="en-US" sz="1400" b="0" i="0" dirty="0">
                <a:solidFill>
                  <a:srgbClr val="222222"/>
                </a:solidFill>
                <a:effectLst/>
                <a:latin typeface="Open Sans" panose="020B0606030504020204" pitchFamily="34" charset="0"/>
              </a:rPr>
              <a:t>QER: MERAKES EAST PROJECT SF216608C002.01 – Intermittent superficial scratches</a:t>
            </a:r>
            <a:endParaRPr lang="en-US" sz="1400" dirty="0">
              <a:solidFill>
                <a:srgbClr val="222222"/>
              </a:solidFill>
              <a:latin typeface="Open Sans" panose="020B0606030504020204" pitchFamily="34" charset="0"/>
            </a:endParaRPr>
          </a:p>
        </p:txBody>
      </p:sp>
    </p:spTree>
    <p:extLst>
      <p:ext uri="{BB962C8B-B14F-4D97-AF65-F5344CB8AC3E}">
        <p14:creationId xmlns:p14="http://schemas.microsoft.com/office/powerpoint/2010/main" val="24902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3172906903"/>
              </p:ext>
            </p:extLst>
          </p:nvPr>
        </p:nvGraphicFramePr>
        <p:xfrm>
          <a:off x="882650" y="1117601"/>
          <a:ext cx="10179050" cy="4805403"/>
        </p:xfrm>
        <a:graphic>
          <a:graphicData uri="http://schemas.openxmlformats.org/drawingml/2006/table">
            <a:tbl>
              <a:tblPr firstRow="1" bandRow="1">
                <a:tableStyleId>{5C22544A-7EE6-4342-B048-85BDC9FD1C3A}</a:tableStyleId>
              </a:tblPr>
              <a:tblGrid>
                <a:gridCol w="5089525">
                  <a:extLst>
                    <a:ext uri="{9D8B030D-6E8A-4147-A177-3AD203B41FA5}">
                      <a16:colId xmlns:a16="http://schemas.microsoft.com/office/drawing/2014/main" val="20000"/>
                    </a:ext>
                  </a:extLst>
                </a:gridCol>
                <a:gridCol w="5089525">
                  <a:extLst>
                    <a:ext uri="{9D8B030D-6E8A-4147-A177-3AD203B41FA5}">
                      <a16:colId xmlns:a16="http://schemas.microsoft.com/office/drawing/2014/main" val="20001"/>
                    </a:ext>
                  </a:extLst>
                </a:gridCol>
              </a:tblGrid>
              <a:tr h="689785">
                <a:tc>
                  <a:txBody>
                    <a:bodyPr/>
                    <a:lstStyle/>
                    <a:p>
                      <a:pPr marL="0" algn="l" defTabSz="914400" rtl="0" eaLnBrk="1" latinLnBrk="0" hangingPunct="1"/>
                      <a:endParaRPr lang="en-US" sz="2000" kern="1200" dirty="0">
                        <a:solidFill>
                          <a:schemeClr val="dk1"/>
                        </a:solidFill>
                        <a:latin typeface="+mn-lt"/>
                        <a:ea typeface="+mn-ea"/>
                        <a:cs typeface="+mn-cs"/>
                      </a:endParaRPr>
                    </a:p>
                    <a:p>
                      <a:pPr marL="0" algn="ctr" defTabSz="914400" rtl="0" eaLnBrk="1" latinLnBrk="0" hangingPunct="1"/>
                      <a:r>
                        <a:rPr lang="en-US" sz="2000" kern="1200" dirty="0">
                          <a:solidFill>
                            <a:schemeClr val="dk1"/>
                          </a:solidFill>
                          <a:latin typeface="+mn-lt"/>
                          <a:ea typeface="+mn-ea"/>
                          <a:cs typeface="+mn-cs"/>
                        </a:rPr>
                        <a:t>Item</a:t>
                      </a:r>
                    </a:p>
                    <a:p>
                      <a:pPr marL="0" algn="ctr" defTabSz="914400" rtl="0" eaLnBrk="1" latinLnBrk="0" hangingPunct="1"/>
                      <a:endParaRPr lang="en-US" sz="2000" kern="1200" dirty="0">
                        <a:solidFill>
                          <a:schemeClr val="dk1"/>
                        </a:solidFill>
                        <a:latin typeface="+mn-lt"/>
                        <a:ea typeface="+mn-ea"/>
                        <a:cs typeface="+mn-cs"/>
                      </a:endParaRPr>
                    </a:p>
                  </a:txBody>
                  <a:tcPr/>
                </a:tc>
                <a:tc>
                  <a:txBody>
                    <a:bodyPr/>
                    <a:lstStyle/>
                    <a:p>
                      <a:pPr marL="0" algn="ctr" defTabSz="914400" rtl="0" eaLnBrk="1" latinLnBrk="0" hangingPunct="1"/>
                      <a:r>
                        <a:rPr lang="en-US" sz="2000" kern="1200" dirty="0">
                          <a:solidFill>
                            <a:schemeClr val="dk1"/>
                          </a:solidFill>
                          <a:latin typeface="+mn-lt"/>
                          <a:ea typeface="+mn-ea"/>
                          <a:cs typeface="+mn-cs"/>
                        </a:rPr>
                        <a:t>Traceability / identification</a:t>
                      </a:r>
                    </a:p>
                  </a:txBody>
                  <a:tcPr anchor="ctr"/>
                </a:tc>
                <a:extLst>
                  <a:ext uri="{0D108BD9-81ED-4DB2-BD59-A6C34878D82A}">
                    <a16:rowId xmlns:a16="http://schemas.microsoft.com/office/drawing/2014/main" val="10000"/>
                  </a:ext>
                </a:extLst>
              </a:tr>
              <a:tr h="538204">
                <a:tc>
                  <a:txBody>
                    <a:bodyPr/>
                    <a:lstStyle/>
                    <a:p>
                      <a:r>
                        <a:rPr lang="en-US" sz="2000" b="1" dirty="0"/>
                        <a:t>Project number</a:t>
                      </a:r>
                    </a:p>
                  </a:txBody>
                  <a:tcPr anchor="ctr"/>
                </a:tc>
                <a:tc>
                  <a:txBody>
                    <a:bodyPr/>
                    <a:lstStyle/>
                    <a:p>
                      <a:r>
                        <a:rPr lang="en-US" sz="1800" b="0" i="0" kern="1200" dirty="0">
                          <a:solidFill>
                            <a:schemeClr val="dk1"/>
                          </a:solidFill>
                          <a:effectLst/>
                          <a:latin typeface="+mn-lt"/>
                          <a:ea typeface="+mn-ea"/>
                          <a:cs typeface="+mn-cs"/>
                        </a:rPr>
                        <a:t>SF216608C002</a:t>
                      </a:r>
                      <a:endParaRPr lang="en-US" sz="2000" dirty="0">
                        <a:effectLst/>
                      </a:endParaRPr>
                    </a:p>
                  </a:txBody>
                  <a:tcPr anchor="ctr"/>
                </a:tc>
                <a:extLst>
                  <a:ext uri="{0D108BD9-81ED-4DB2-BD59-A6C34878D82A}">
                    <a16:rowId xmlns:a16="http://schemas.microsoft.com/office/drawing/2014/main" val="10001"/>
                  </a:ext>
                </a:extLst>
              </a:tr>
              <a:tr h="538204">
                <a:tc>
                  <a:txBody>
                    <a:bodyPr/>
                    <a:lstStyle/>
                    <a:p>
                      <a:r>
                        <a:rPr lang="en-US" sz="2000" b="1" dirty="0"/>
                        <a:t>Project name</a:t>
                      </a:r>
                    </a:p>
                  </a:txBody>
                  <a:tcPr anchor="ctr"/>
                </a:tc>
                <a:tc>
                  <a:txBody>
                    <a:bodyPr/>
                    <a:lstStyle/>
                    <a:p>
                      <a:r>
                        <a:rPr lang="en-US" sz="1800" b="0" i="0" kern="1200" dirty="0">
                          <a:solidFill>
                            <a:schemeClr val="dk1"/>
                          </a:solidFill>
                          <a:effectLst/>
                          <a:latin typeface="+mn-lt"/>
                          <a:ea typeface="+mn-ea"/>
                          <a:cs typeface="+mn-cs"/>
                        </a:rPr>
                        <a:t>MERAKES EAST PROJECT</a:t>
                      </a:r>
                      <a:endParaRPr lang="en-US" sz="2000" dirty="0"/>
                    </a:p>
                  </a:txBody>
                  <a:tcPr anchor="ctr"/>
                </a:tc>
                <a:extLst>
                  <a:ext uri="{0D108BD9-81ED-4DB2-BD59-A6C34878D82A}">
                    <a16:rowId xmlns:a16="http://schemas.microsoft.com/office/drawing/2014/main" val="10002"/>
                  </a:ext>
                </a:extLst>
              </a:tr>
              <a:tr h="538204">
                <a:tc>
                  <a:txBody>
                    <a:bodyPr/>
                    <a:lstStyle/>
                    <a:p>
                      <a:r>
                        <a:rPr lang="en-US" sz="2000" b="1"/>
                        <a:t>Pipe section</a:t>
                      </a:r>
                      <a:endParaRPr lang="en-US" sz="2000" b="1" dirty="0"/>
                    </a:p>
                  </a:txBody>
                  <a:tcPr anchor="ctr"/>
                </a:tc>
                <a:tc>
                  <a:txBody>
                    <a:bodyPr/>
                    <a:lstStyle/>
                    <a:p>
                      <a:r>
                        <a:rPr lang="en-US" sz="1800" b="0" i="0" kern="1200" dirty="0">
                          <a:solidFill>
                            <a:schemeClr val="dk1"/>
                          </a:solidFill>
                          <a:effectLst/>
                          <a:latin typeface="+mn-lt"/>
                          <a:ea typeface="+mn-ea"/>
                          <a:cs typeface="+mn-cs"/>
                        </a:rPr>
                        <a:t>SF216608C002.01</a:t>
                      </a:r>
                      <a:endParaRPr lang="en-US" sz="2000" dirty="0">
                        <a:effectLst/>
                      </a:endParaRPr>
                    </a:p>
                  </a:txBody>
                  <a:tcPr anchor="ctr"/>
                </a:tc>
                <a:extLst>
                  <a:ext uri="{0D108BD9-81ED-4DB2-BD59-A6C34878D82A}">
                    <a16:rowId xmlns:a16="http://schemas.microsoft.com/office/drawing/2014/main" val="10003"/>
                  </a:ext>
                </a:extLst>
              </a:tr>
              <a:tr h="538204">
                <a:tc>
                  <a:txBody>
                    <a:bodyPr/>
                    <a:lstStyle/>
                    <a:p>
                      <a:r>
                        <a:rPr lang="en-US" sz="2000" b="1" dirty="0"/>
                        <a:t>ST number</a:t>
                      </a:r>
                    </a:p>
                  </a:txBody>
                  <a:tcPr anchor="ctr"/>
                </a:tc>
                <a:tc>
                  <a:txBody>
                    <a:bodyPr/>
                    <a:lstStyle/>
                    <a:p>
                      <a:r>
                        <a:rPr lang="en-US" sz="1800" b="0" i="0" kern="1200" dirty="0">
                          <a:solidFill>
                            <a:schemeClr val="dk1"/>
                          </a:solidFill>
                          <a:effectLst/>
                          <a:latin typeface="+mn-lt"/>
                          <a:ea typeface="+mn-ea"/>
                          <a:cs typeface="+mn-cs"/>
                        </a:rPr>
                        <a:t>ST254.72048</a:t>
                      </a:r>
                      <a:endParaRPr lang="en-US" sz="2000" dirty="0"/>
                    </a:p>
                  </a:txBody>
                  <a:tcPr anchor="ctr"/>
                </a:tc>
                <a:extLst>
                  <a:ext uri="{0D108BD9-81ED-4DB2-BD59-A6C34878D82A}">
                    <a16:rowId xmlns:a16="http://schemas.microsoft.com/office/drawing/2014/main" val="10004"/>
                  </a:ext>
                </a:extLst>
              </a:tr>
              <a:tr h="538204">
                <a:tc>
                  <a:txBody>
                    <a:bodyPr/>
                    <a:lstStyle/>
                    <a:p>
                      <a:r>
                        <a:rPr lang="en-US" sz="2000" b="1" dirty="0"/>
                        <a:t>Affected layer / equipment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effectLst/>
                        </a:rPr>
                        <a:t>Zeta vault spiralling</a:t>
                      </a:r>
                      <a:endParaRPr lang="en-GB" sz="2000" dirty="0">
                        <a:effectLst/>
                      </a:endParaRPr>
                    </a:p>
                  </a:txBody>
                  <a:tcPr anchor="ctr"/>
                </a:tc>
                <a:extLst>
                  <a:ext uri="{0D108BD9-81ED-4DB2-BD59-A6C34878D82A}">
                    <a16:rowId xmlns:a16="http://schemas.microsoft.com/office/drawing/2014/main" val="10005"/>
                  </a:ext>
                </a:extLst>
              </a:tr>
              <a:tr h="570339">
                <a:tc>
                  <a:txBody>
                    <a:bodyPr/>
                    <a:lstStyle/>
                    <a:p>
                      <a:r>
                        <a:rPr lang="en-US" sz="2000" b="1" dirty="0"/>
                        <a:t>Length</a:t>
                      </a:r>
                      <a:r>
                        <a:rPr lang="en-US" sz="2000" b="1" baseline="0" dirty="0"/>
                        <a:t> affected</a:t>
                      </a:r>
                      <a:endParaRPr lang="en-US" sz="2000" b="1" dirty="0"/>
                    </a:p>
                  </a:txBody>
                  <a:tcPr anchor="ctr"/>
                </a:tc>
                <a:tc>
                  <a:txBody>
                    <a:bodyPr/>
                    <a:lstStyle/>
                    <a:p>
                      <a:pPr marL="0" indent="0">
                        <a:buFont typeface="Arial" panose="020B0604020202020204" pitchFamily="34" charset="0"/>
                        <a:buNone/>
                      </a:pPr>
                      <a:r>
                        <a:rPr lang="en-US" sz="2000" dirty="0"/>
                        <a:t>0m until 291m</a:t>
                      </a:r>
                    </a:p>
                  </a:txBody>
                  <a:tcPr anchor="ctr"/>
                </a:tc>
                <a:extLst>
                  <a:ext uri="{0D108BD9-81ED-4DB2-BD59-A6C34878D82A}">
                    <a16:rowId xmlns:a16="http://schemas.microsoft.com/office/drawing/2014/main" val="10006"/>
                  </a:ext>
                </a:extLst>
              </a:tr>
              <a:tr h="538204">
                <a:tc>
                  <a:txBody>
                    <a:bodyPr/>
                    <a:lstStyle/>
                    <a:p>
                      <a:r>
                        <a:rPr lang="en-US" sz="2000" b="1" dirty="0"/>
                        <a:t>Drawing number / MP code / STA / Dimension</a:t>
                      </a:r>
                    </a:p>
                  </a:txBody>
                  <a:tcPr anchor="ctr"/>
                </a:tc>
                <a:tc>
                  <a:txBody>
                    <a:bodyPr/>
                    <a:lstStyle/>
                    <a:p>
                      <a:r>
                        <a:rPr lang="en-US" dirty="0">
                          <a:effectLst/>
                        </a:rPr>
                        <a:t>ZETA 12 FI 11(MP746)</a:t>
                      </a:r>
                      <a:endParaRPr lang="en-US" sz="1800" b="0" dirty="0"/>
                    </a:p>
                  </a:txBody>
                  <a:tcPr anchor="ctr"/>
                </a:tc>
                <a:extLst>
                  <a:ext uri="{0D108BD9-81ED-4DB2-BD59-A6C34878D82A}">
                    <a16:rowId xmlns:a16="http://schemas.microsoft.com/office/drawing/2014/main" val="10007"/>
                  </a:ext>
                </a:extLst>
              </a:tr>
            </a:tbl>
          </a:graphicData>
        </a:graphic>
      </p:graphicFrame>
      <p:sp>
        <p:nvSpPr>
          <p:cNvPr id="6" name="Title 7">
            <a:extLst>
              <a:ext uri="{FF2B5EF4-FFF2-40B4-BE49-F238E27FC236}">
                <a16:creationId xmlns:a16="http://schemas.microsoft.com/office/drawing/2014/main" id="{57EDE61D-85BE-47FE-ADE9-7C624E892B0C}"/>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Pipe section / Details</a:t>
            </a:r>
          </a:p>
        </p:txBody>
      </p:sp>
    </p:spTree>
    <p:extLst>
      <p:ext uri="{BB962C8B-B14F-4D97-AF65-F5344CB8AC3E}">
        <p14:creationId xmlns:p14="http://schemas.microsoft.com/office/powerpoint/2010/main" val="871867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51A6E4E-D3A8-4EC1-BE53-9DF27CD3E17D}"/>
              </a:ext>
            </a:extLst>
          </p:cNvPr>
          <p:cNvSpPr txBox="1"/>
          <p:nvPr/>
        </p:nvSpPr>
        <p:spPr>
          <a:xfrm>
            <a:off x="535259" y="1262806"/>
            <a:ext cx="10995102" cy="3908762"/>
          </a:xfrm>
          <a:prstGeom prst="rect">
            <a:avLst/>
          </a:prstGeom>
          <a:noFill/>
        </p:spPr>
        <p:txBody>
          <a:bodyPr wrap="square" rtlCol="0">
            <a:spAutoFit/>
          </a:bodyPr>
          <a:lstStyle/>
          <a:p>
            <a:r>
              <a:rPr lang="en-US" b="1" u="sng" dirty="0">
                <a:solidFill>
                  <a:srgbClr val="080808"/>
                </a:solidFill>
                <a:effectLst>
                  <a:outerShdw blurRad="38100" dist="38100" dir="2700000" algn="tl">
                    <a:srgbClr val="000000">
                      <a:alpha val="43137"/>
                    </a:srgbClr>
                  </a:outerShdw>
                </a:effectLst>
              </a:rPr>
              <a:t>Problem Description :-</a:t>
            </a:r>
          </a:p>
          <a:p>
            <a:r>
              <a:rPr lang="en-US" sz="1400" b="0" i="0" dirty="0">
                <a:solidFill>
                  <a:srgbClr val="222222"/>
                </a:solidFill>
                <a:effectLst/>
                <a:latin typeface="Open Sans" panose="020B0606030504020204" pitchFamily="34" charset="0"/>
              </a:rPr>
              <a:t>During the zeta spiraling of MERAKES EAST PROJECT SF216608C002.01 (ST254.72048), intermittent superficial scratch due to roller mark on the zeta wire was detected at start length 0m until 291m on pipe.</a:t>
            </a:r>
            <a:br>
              <a:rPr lang="en-US" sz="1400" dirty="0"/>
            </a:br>
            <a:br>
              <a:rPr lang="en-US" sz="1400" dirty="0"/>
            </a:br>
            <a:r>
              <a:rPr lang="en-US" sz="1400" b="0" i="0" dirty="0">
                <a:solidFill>
                  <a:srgbClr val="222222"/>
                </a:solidFill>
                <a:effectLst/>
                <a:latin typeface="Open Sans" panose="020B0606030504020204" pitchFamily="34" charset="0"/>
              </a:rPr>
              <a:t>The details of measurement are as per below.</a:t>
            </a:r>
            <a:br>
              <a:rPr lang="en-US" sz="1400" dirty="0"/>
            </a:br>
            <a:r>
              <a:rPr lang="en-US" sz="1400" b="0" i="0" dirty="0">
                <a:solidFill>
                  <a:srgbClr val="222222"/>
                </a:solidFill>
                <a:effectLst/>
                <a:latin typeface="Open Sans" panose="020B0606030504020204" pitchFamily="34" charset="0"/>
              </a:rPr>
              <a:t>- Depth: 14um</a:t>
            </a:r>
            <a:br>
              <a:rPr lang="en-US" sz="1400" dirty="0"/>
            </a:br>
            <a:r>
              <a:rPr lang="en-US" sz="1400" b="0" i="0" dirty="0">
                <a:solidFill>
                  <a:srgbClr val="222222"/>
                </a:solidFill>
                <a:effectLst/>
                <a:latin typeface="Open Sans" panose="020B0606030504020204" pitchFamily="34" charset="0"/>
              </a:rPr>
              <a:t>- Upsetting: N/A</a:t>
            </a:r>
            <a:br>
              <a:rPr lang="en-US" sz="1400" dirty="0"/>
            </a:br>
            <a:br>
              <a:rPr lang="en-US" sz="1400" dirty="0"/>
            </a:br>
            <a:endParaRPr lang="en-US" sz="1400" u="sng" dirty="0">
              <a:solidFill>
                <a:srgbClr val="222222"/>
              </a:solidFill>
              <a:latin typeface="Open Sans" panose="020B0606030504020204" pitchFamily="34" charset="0"/>
            </a:endParaRPr>
          </a:p>
          <a:p>
            <a:r>
              <a:rPr lang="en-US" b="1" u="sng" dirty="0">
                <a:solidFill>
                  <a:srgbClr val="080808"/>
                </a:solidFill>
                <a:effectLst>
                  <a:outerShdw blurRad="38100" dist="38100" dir="2700000" algn="tl">
                    <a:srgbClr val="000000">
                      <a:alpha val="43137"/>
                    </a:srgbClr>
                  </a:outerShdw>
                </a:effectLst>
              </a:rPr>
              <a:t>Root Cause :- </a:t>
            </a:r>
          </a:p>
          <a:p>
            <a:r>
              <a:rPr lang="en-US" sz="1400" b="0" i="0" dirty="0">
                <a:solidFill>
                  <a:srgbClr val="222222"/>
                </a:solidFill>
                <a:effectLst/>
                <a:latin typeface="Open Sans" panose="020B0606030504020204" pitchFamily="34" charset="0"/>
              </a:rPr>
              <a:t>The root cause was due to the roller phosphating coating is not suitable for FI11 wire grade.</a:t>
            </a:r>
          </a:p>
          <a:p>
            <a:endParaRPr lang="en-US" sz="1400" u="sng" dirty="0">
              <a:solidFill>
                <a:srgbClr val="222222"/>
              </a:solidFill>
              <a:latin typeface="Open Sans" panose="020B0606030504020204" pitchFamily="34" charset="0"/>
            </a:endParaRPr>
          </a:p>
          <a:p>
            <a:endParaRPr lang="en-US" sz="1200" b="1" u="sng" dirty="0">
              <a:solidFill>
                <a:srgbClr val="0000FF"/>
              </a:solidFill>
              <a:effectLst>
                <a:outerShdw blurRad="38100" dist="38100" dir="2700000" algn="tl">
                  <a:srgbClr val="000000">
                    <a:alpha val="43137"/>
                  </a:srgbClr>
                </a:outerShdw>
              </a:effectLst>
            </a:endParaRPr>
          </a:p>
          <a:p>
            <a:r>
              <a:rPr lang="en-US" b="1" u="sng" dirty="0">
                <a:solidFill>
                  <a:srgbClr val="080808"/>
                </a:solidFill>
                <a:effectLst>
                  <a:outerShdw blurRad="38100" dist="38100" dir="2700000" algn="tl">
                    <a:srgbClr val="000000">
                      <a:alpha val="43137"/>
                    </a:srgbClr>
                  </a:outerShdw>
                </a:effectLst>
              </a:rPr>
              <a:t>Problem Handling</a:t>
            </a:r>
            <a:r>
              <a:rPr lang="en-US" dirty="0">
                <a:solidFill>
                  <a:srgbClr val="080808"/>
                </a:solidFill>
                <a:effectLst>
                  <a:outerShdw blurRad="38100" dist="38100" dir="2700000" algn="tl">
                    <a:srgbClr val="000000">
                      <a:alpha val="43137"/>
                    </a:srgbClr>
                  </a:outerShdw>
                </a:effectLst>
              </a:rPr>
              <a:t>:-</a:t>
            </a:r>
          </a:p>
          <a:p>
            <a:pPr fontAlgn="t"/>
            <a:r>
              <a:rPr lang="en-US" sz="14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surface defects is 100um and for the maximum upsetting is 50um. Thus, this defect was accepted as it is.</a:t>
            </a:r>
            <a:br>
              <a:rPr lang="en-US" sz="1400" b="0" i="0" dirty="0">
                <a:solidFill>
                  <a:srgbClr val="222222"/>
                </a:solidFill>
                <a:effectLst/>
                <a:latin typeface="Open Sans" panose="020B0606030504020204" pitchFamily="34" charset="0"/>
              </a:rPr>
            </a:br>
            <a:endParaRPr lang="en-US" sz="1400" dirty="0">
              <a:effectLst/>
            </a:endParaRPr>
          </a:p>
        </p:txBody>
      </p:sp>
      <p:sp>
        <p:nvSpPr>
          <p:cNvPr id="6" name="Title 7">
            <a:extLst>
              <a:ext uri="{FF2B5EF4-FFF2-40B4-BE49-F238E27FC236}">
                <a16:creationId xmlns:a16="http://schemas.microsoft.com/office/drawing/2014/main" id="{5A1AA70D-F46C-4B5F-A682-101CB5606ABE}"/>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Overview of anomaly</a:t>
            </a:r>
          </a:p>
        </p:txBody>
      </p:sp>
    </p:spTree>
    <p:extLst>
      <p:ext uri="{BB962C8B-B14F-4D97-AF65-F5344CB8AC3E}">
        <p14:creationId xmlns:p14="http://schemas.microsoft.com/office/powerpoint/2010/main" val="415791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rPr>
              <a:t>Defect Photo</a:t>
            </a:r>
            <a:endParaRPr lang="en-US" sz="4000" b="1" dirty="0">
              <a:solidFill>
                <a:srgbClr val="080808"/>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F8812327-636C-4753-8680-A8898364D124}"/>
              </a:ext>
            </a:extLst>
          </p:cNvPr>
          <p:cNvSpPr txBox="1"/>
          <p:nvPr/>
        </p:nvSpPr>
        <p:spPr>
          <a:xfrm>
            <a:off x="909690" y="5920720"/>
            <a:ext cx="10732184" cy="584775"/>
          </a:xfrm>
          <a:prstGeom prst="rect">
            <a:avLst/>
          </a:prstGeom>
          <a:noFill/>
        </p:spPr>
        <p:txBody>
          <a:bodyPr wrap="square" rtlCol="0">
            <a:spAutoFit/>
          </a:bodyPr>
          <a:lstStyle/>
          <a:p>
            <a:pPr algn="ctr"/>
            <a:r>
              <a:rPr lang="en-US" sz="1400" b="1" dirty="0"/>
              <a:t>Figure 1 </a:t>
            </a:r>
            <a:r>
              <a:rPr lang="en-US" sz="1400" dirty="0"/>
              <a:t>: </a:t>
            </a:r>
            <a:r>
              <a:rPr lang="en-US" sz="1600" b="0" i="0" dirty="0">
                <a:solidFill>
                  <a:srgbClr val="222222"/>
                </a:solidFill>
                <a:effectLst/>
                <a:latin typeface="Open Sans" panose="020B0606030504020204" pitchFamily="34" charset="0"/>
              </a:rPr>
              <a:t> </a:t>
            </a:r>
            <a:r>
              <a:rPr lang="en-US" sz="1600" dirty="0">
                <a:solidFill>
                  <a:srgbClr val="222222"/>
                </a:solidFill>
                <a:latin typeface="Open Sans" panose="020B0606030504020204" pitchFamily="34" charset="0"/>
              </a:rPr>
              <a:t>I</a:t>
            </a:r>
            <a:r>
              <a:rPr lang="en-US" sz="1600" b="0" i="0" dirty="0">
                <a:solidFill>
                  <a:srgbClr val="222222"/>
                </a:solidFill>
                <a:effectLst/>
                <a:latin typeface="Open Sans" panose="020B0606030504020204" pitchFamily="34" charset="0"/>
              </a:rPr>
              <a:t>ntermittent superficial scratch due to roller mark on the zeta wire was detected at start length 0m until 291m on pipe.</a:t>
            </a: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close-up of a metal object&#10;&#10;Description automatically generated">
            <a:extLst>
              <a:ext uri="{FF2B5EF4-FFF2-40B4-BE49-F238E27FC236}">
                <a16:creationId xmlns:a16="http://schemas.microsoft.com/office/drawing/2014/main" id="{9786ECB4-AB71-2799-68D7-4D5730649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7543" y="1113261"/>
            <a:ext cx="6096000" cy="4572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a:extLst>
              <a:ext uri="{FF2B5EF4-FFF2-40B4-BE49-F238E27FC236}">
                <a16:creationId xmlns:a16="http://schemas.microsoft.com/office/drawing/2014/main" id="{B3945F44-9AD5-E1D8-45BF-B411346E3F38}"/>
              </a:ext>
            </a:extLst>
          </p:cNvPr>
          <p:cNvSpPr/>
          <p:nvPr/>
        </p:nvSpPr>
        <p:spPr>
          <a:xfrm>
            <a:off x="3490332" y="2854712"/>
            <a:ext cx="5296829" cy="253132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5262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effectLst>
                  <a:outerShdw blurRad="38100" dist="38100" dir="2700000" algn="tl">
                    <a:srgbClr val="000000">
                      <a:alpha val="43137"/>
                    </a:srgbClr>
                  </a:outerShdw>
                </a:effectLst>
              </a:rPr>
              <a:t>Plastic copy measurement</a:t>
            </a:r>
          </a:p>
        </p:txBody>
      </p:sp>
      <p:sp>
        <p:nvSpPr>
          <p:cNvPr id="10" name="TextBox 9">
            <a:extLst>
              <a:ext uri="{FF2B5EF4-FFF2-40B4-BE49-F238E27FC236}">
                <a16:creationId xmlns:a16="http://schemas.microsoft.com/office/drawing/2014/main" id="{F8812327-636C-4753-8680-A8898364D124}"/>
              </a:ext>
            </a:extLst>
          </p:cNvPr>
          <p:cNvSpPr txBox="1"/>
          <p:nvPr/>
        </p:nvSpPr>
        <p:spPr>
          <a:xfrm>
            <a:off x="847893" y="5534318"/>
            <a:ext cx="10665979" cy="830997"/>
          </a:xfrm>
          <a:prstGeom prst="rect">
            <a:avLst/>
          </a:prstGeom>
          <a:noFill/>
        </p:spPr>
        <p:txBody>
          <a:bodyPr wrap="square" rtlCol="0">
            <a:spAutoFit/>
          </a:bodyPr>
          <a:lstStyle/>
          <a:p>
            <a:pPr algn="ctr" fontAlgn="t"/>
            <a:r>
              <a:rPr lang="en-US" sz="1400" b="1" dirty="0"/>
              <a:t>Figure 2 </a:t>
            </a:r>
            <a:r>
              <a:rPr lang="en-US" sz="1400" dirty="0"/>
              <a:t>: </a:t>
            </a:r>
            <a:r>
              <a:rPr lang="en-US" sz="16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surface defects is 100um and for the maximum upsetting is 50um. Thus, this defect was accepted as it is.</a:t>
            </a:r>
            <a:endParaRPr lang="en-US" sz="1600" dirty="0">
              <a:effectLst/>
            </a:endParaRP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close-up of a screen&#10;&#10;Description automatically generated">
            <a:extLst>
              <a:ext uri="{FF2B5EF4-FFF2-40B4-BE49-F238E27FC236}">
                <a16:creationId xmlns:a16="http://schemas.microsoft.com/office/drawing/2014/main" id="{E538894C-EF1C-CAE8-92EE-B2969133D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1045952"/>
            <a:ext cx="6096000" cy="42954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46720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6" cy="6857999"/>
          </a:xfrm>
          <a:prstGeom prst="rect">
            <a:avLst/>
          </a:prstGeom>
        </p:spPr>
      </p:pic>
      <p:sp>
        <p:nvSpPr>
          <p:cNvPr id="2" name="Title 1"/>
          <p:cNvSpPr>
            <a:spLocks noGrp="1"/>
          </p:cNvSpPr>
          <p:nvPr>
            <p:ph type="title"/>
          </p:nvPr>
        </p:nvSpPr>
        <p:spPr>
          <a:xfrm>
            <a:off x="2191809" y="2794000"/>
            <a:ext cx="4958291" cy="1079500"/>
          </a:xfrm>
        </p:spPr>
        <p:txBody>
          <a:bodyPr/>
          <a:lstStyle/>
          <a:p>
            <a:pPr algn="ctr"/>
            <a:br>
              <a:rPr lang="en-US" sz="4800" b="1" dirty="0"/>
            </a:br>
            <a:r>
              <a:rPr lang="en-US" sz="4800" b="1" dirty="0"/>
              <a:t>THANK YOU</a:t>
            </a:r>
          </a:p>
        </p:txBody>
      </p:sp>
    </p:spTree>
    <p:extLst>
      <p:ext uri="{BB962C8B-B14F-4D97-AF65-F5344CB8AC3E}">
        <p14:creationId xmlns:p14="http://schemas.microsoft.com/office/powerpoint/2010/main" val="1886797236"/>
      </p:ext>
    </p:extLst>
  </p:cSld>
  <p:clrMapOvr>
    <a:masterClrMapping/>
  </p:clrMapOvr>
</p:sld>
</file>

<file path=ppt/theme/theme1.xml><?xml version="1.0" encoding="utf-8"?>
<a:theme xmlns:a="http://schemas.openxmlformats.org/drawingml/2006/main" name="Text">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72A50781-4C99-4C03-83CD-FA397A9A26E8}"/>
    </a:ext>
  </a:extLst>
</a:theme>
</file>

<file path=ppt/theme/theme2.xml><?xml version="1.0" encoding="utf-8"?>
<a:theme xmlns:a="http://schemas.openxmlformats.org/drawingml/2006/main" name="Cover ">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264E4DFC-9410-47E4-9B7F-A5442DBCB59B}"/>
    </a:ext>
  </a:extLst>
</a:theme>
</file>

<file path=ppt/theme/theme3.xml><?xml version="1.0" encoding="utf-8"?>
<a:theme xmlns:a="http://schemas.openxmlformats.org/drawingml/2006/main" name="Cover and Photo">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9AFBA3D3-A0A6-4536-B45E-40FDC3D467A0}"/>
    </a:ext>
  </a:extLst>
</a:theme>
</file>

<file path=ppt/theme/theme4.xml><?xml version="1.0" encoding="utf-8"?>
<a:theme xmlns:a="http://schemas.openxmlformats.org/drawingml/2006/main" name="Agenda and Section">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EB1971BE-F4B0-49A0-9372-405B1B105A4E}"/>
    </a:ext>
  </a:extLst>
</a:theme>
</file>

<file path=ppt/theme/theme5.xml><?xml version="1.0" encoding="utf-8"?>
<a:theme xmlns:a="http://schemas.openxmlformats.org/drawingml/2006/main" name="Closing Slide Master">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1A4948F9-4CBF-4DD8-A123-ADDEB5543F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288</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6</vt:i4>
      </vt:variant>
    </vt:vector>
  </HeadingPairs>
  <TitlesOfParts>
    <vt:vector size="15" baseType="lpstr">
      <vt:lpstr>Arial</vt:lpstr>
      <vt:lpstr>Calibri</vt:lpstr>
      <vt:lpstr>Open Sans</vt:lpstr>
      <vt:lpstr>Webdings</vt:lpstr>
      <vt:lpstr>Text</vt:lpstr>
      <vt:lpstr>Cover </vt:lpstr>
      <vt:lpstr>Cover and Photo</vt:lpstr>
      <vt:lpstr>Agenda and Section</vt:lpstr>
      <vt:lpstr>Closing Slide Master</vt:lpstr>
      <vt:lpstr>QER 10356</vt:lpstr>
      <vt:lpstr>Pipe section / Details</vt:lpstr>
      <vt:lpstr>Overview of anomaly</vt:lpstr>
      <vt:lpstr>Defect Photo</vt:lpstr>
      <vt:lpstr>Plastic copy measurement</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QER 10029_Rev1</dc:title>
  <dc:creator>Sandy Enoch</dc:creator>
  <cp:lastModifiedBy>MuhammadAiman Mahzan</cp:lastModifiedBy>
  <cp:revision>555</cp:revision>
  <dcterms:created xsi:type="dcterms:W3CDTF">2017-01-06T20:47:07Z</dcterms:created>
  <dcterms:modified xsi:type="dcterms:W3CDTF">2024-11-05T02:19:52Z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98a045-e53d-4dce-a8d7-f41d40d412ce_Enabled">
    <vt:lpwstr>True</vt:lpwstr>
  </property>
  <property fmtid="{D5CDD505-2E9C-101B-9397-08002B2CF9AE}" pid="3" name="MSIP_Label_c998a045-e53d-4dce-a8d7-f41d40d412ce_SiteId">
    <vt:lpwstr>0804c951-93a0-405d-80e4-fa87c7551d6a</vt:lpwstr>
  </property>
  <property fmtid="{D5CDD505-2E9C-101B-9397-08002B2CF9AE}" pid="4" name="MSIP_Label_c998a045-e53d-4dce-a8d7-f41d40d412ce_Owner">
    <vt:lpwstr>muhamadrazif.abdullah@technipfmc.com</vt:lpwstr>
  </property>
  <property fmtid="{D5CDD505-2E9C-101B-9397-08002B2CF9AE}" pid="5" name="MSIP_Label_c998a045-e53d-4dce-a8d7-f41d40d412ce_SetDate">
    <vt:lpwstr>2021-06-17T02:46:57.0083478Z</vt:lpwstr>
  </property>
  <property fmtid="{D5CDD505-2E9C-101B-9397-08002B2CF9AE}" pid="6" name="MSIP_Label_c998a045-e53d-4dce-a8d7-f41d40d412ce_Name">
    <vt:lpwstr>General</vt:lpwstr>
  </property>
  <property fmtid="{D5CDD505-2E9C-101B-9397-08002B2CF9AE}" pid="7" name="MSIP_Label_c998a045-e53d-4dce-a8d7-f41d40d412ce_Application">
    <vt:lpwstr>Microsoft Azure Information Protection</vt:lpwstr>
  </property>
  <property fmtid="{D5CDD505-2E9C-101B-9397-08002B2CF9AE}" pid="8" name="MSIP_Label_c998a045-e53d-4dce-a8d7-f41d40d412ce_Extended_MSFT_Method">
    <vt:lpwstr>Automatic</vt:lpwstr>
  </property>
  <property fmtid="{D5CDD505-2E9C-101B-9397-08002B2CF9AE}" pid="9" name="MSIP_Label_3b48b937-0ae3-46f5-b32e-f3232b5be847_Enabled">
    <vt:lpwstr>True</vt:lpwstr>
  </property>
  <property fmtid="{D5CDD505-2E9C-101B-9397-08002B2CF9AE}" pid="10" name="MSIP_Label_3b48b937-0ae3-46f5-b32e-f3232b5be847_SiteId">
    <vt:lpwstr>9179d01a-e94c-4488-b5f0-4554bc474f8c</vt:lpwstr>
  </property>
  <property fmtid="{D5CDD505-2E9C-101B-9397-08002B2CF9AE}" pid="11" name="MSIP_Label_3b48b937-0ae3-46f5-b32e-f3232b5be847_Owner">
    <vt:lpwstr>muizuddin.mohdnoh@technipfmc.com</vt:lpwstr>
  </property>
  <property fmtid="{D5CDD505-2E9C-101B-9397-08002B2CF9AE}" pid="12" name="MSIP_Label_3b48b937-0ae3-46f5-b32e-f3232b5be847_SetDate">
    <vt:lpwstr>2019-07-26T17:37:22.3670000Z</vt:lpwstr>
  </property>
  <property fmtid="{D5CDD505-2E9C-101B-9397-08002B2CF9AE}" pid="13" name="MSIP_Label_3b48b937-0ae3-46f5-b32e-f3232b5be847_Name">
    <vt:lpwstr>General</vt:lpwstr>
  </property>
  <property fmtid="{D5CDD505-2E9C-101B-9397-08002B2CF9AE}" pid="14" name="MSIP_Label_3b48b937-0ae3-46f5-b32e-f3232b5be847_Application">
    <vt:lpwstr>Microsoft Azure Information Protection</vt:lpwstr>
  </property>
  <property fmtid="{D5CDD505-2E9C-101B-9397-08002B2CF9AE}" pid="15" name="MSIP_Label_3b48b937-0ae3-46f5-b32e-f3232b5be847_Extended_MSFT_Method">
    <vt:lpwstr>Automatic</vt:lpwstr>
  </property>
  <property fmtid="{D5CDD505-2E9C-101B-9397-08002B2CF9AE}" pid="16" name="MSIP_Label_8caabacf-b917-4a45-9a5f-ed3a53d2eeb7_Enabled">
    <vt:lpwstr>true</vt:lpwstr>
  </property>
  <property fmtid="{D5CDD505-2E9C-101B-9397-08002B2CF9AE}" pid="17" name="MSIP_Label_8caabacf-b917-4a45-9a5f-ed3a53d2eeb7_SetDate">
    <vt:lpwstr>2021-12-20T23:04:29Z</vt:lpwstr>
  </property>
  <property fmtid="{D5CDD505-2E9C-101B-9397-08002B2CF9AE}" pid="18" name="MSIP_Label_8caabacf-b917-4a45-9a5f-ed3a53d2eeb7_Method">
    <vt:lpwstr>Standard</vt:lpwstr>
  </property>
  <property fmtid="{D5CDD505-2E9C-101B-9397-08002B2CF9AE}" pid="19" name="MSIP_Label_8caabacf-b917-4a45-9a5f-ed3a53d2eeb7_Name">
    <vt:lpwstr>Anyone - No Protection</vt:lpwstr>
  </property>
  <property fmtid="{D5CDD505-2E9C-101B-9397-08002B2CF9AE}" pid="20" name="MSIP_Label_8caabacf-b917-4a45-9a5f-ed3a53d2eeb7_SiteId">
    <vt:lpwstr>0804c951-93a0-405d-80e4-fa87c7551d6a</vt:lpwstr>
  </property>
  <property fmtid="{D5CDD505-2E9C-101B-9397-08002B2CF9AE}" pid="21" name="MSIP_Label_8caabacf-b917-4a45-9a5f-ed3a53d2eeb7_ContentBits">
    <vt:lpwstr>0</vt:lpwstr>
  </property>
</Properties>
</file>