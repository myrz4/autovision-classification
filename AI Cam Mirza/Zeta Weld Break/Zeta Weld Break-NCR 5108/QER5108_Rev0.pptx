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7" r:id="rId2"/>
    <p:sldMasterId id="2147483716" r:id="rId3"/>
    <p:sldMasterId id="2147483710" r:id="rId4"/>
    <p:sldMasterId id="2147483723" r:id="rId5"/>
  </p:sldMasterIdLst>
  <p:notesMasterIdLst>
    <p:notesMasterId r:id="rId14"/>
  </p:notesMasterIdLst>
  <p:sldIdLst>
    <p:sldId id="276" r:id="rId6"/>
    <p:sldId id="281" r:id="rId7"/>
    <p:sldId id="285" r:id="rId8"/>
    <p:sldId id="288" r:id="rId9"/>
    <p:sldId id="289" r:id="rId10"/>
    <p:sldId id="290" r:id="rId11"/>
    <p:sldId id="291" r:id="rId12"/>
    <p:sldId id="27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808"/>
    <a:srgbClr val="0000FF"/>
    <a:srgbClr val="CB2C30"/>
    <a:srgbClr val="494D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458" autoAdjust="0"/>
    <p:restoredTop sz="96120" autoAdjust="0"/>
  </p:normalViewPr>
  <p:slideViewPr>
    <p:cSldViewPr snapToGrid="0">
      <p:cViewPr varScale="1">
        <p:scale>
          <a:sx n="114" d="100"/>
          <a:sy n="114" d="100"/>
        </p:scale>
        <p:origin x="732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6BAAD-1FB8-463E-98EC-4A9AB5876F30}" type="datetimeFigureOut">
              <a:rPr lang="en-US" smtClean="0"/>
              <a:t>6/5/2023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FA596D-E0A5-4850-848A-42B87D1D7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184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54665" y="1632985"/>
            <a:ext cx="11125200" cy="3894138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(20pt)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10" name="Title Placeholder 2"/>
          <p:cNvSpPr>
            <a:spLocks noGrp="1"/>
          </p:cNvSpPr>
          <p:nvPr>
            <p:ph type="title"/>
          </p:nvPr>
        </p:nvSpPr>
        <p:spPr>
          <a:xfrm>
            <a:off x="533400" y="156654"/>
            <a:ext cx="11125200" cy="915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88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1632985"/>
            <a:ext cx="11125200" cy="2862755"/>
          </a:xfrm>
          <a:prstGeom prst="rect">
            <a:avLst/>
          </a:prstGeom>
        </p:spPr>
        <p:txBody>
          <a:bodyPr numCol="2" spcCol="228600"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Column Text (20pt)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rgbClr val="494D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533400" y="137263"/>
            <a:ext cx="11125200" cy="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16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1632985"/>
            <a:ext cx="11125200" cy="3894138"/>
          </a:xfrm>
          <a:prstGeom prst="rect">
            <a:avLst/>
          </a:prstGeom>
        </p:spPr>
        <p:txBody>
          <a:bodyPr numCol="3" spcCol="228600"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Column Text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rgbClr val="494D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rgbClr val="494D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533400" y="137263"/>
            <a:ext cx="11125200" cy="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923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533400" y="1521169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4662729" y="1521169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792059" y="1525788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533400" y="4425696"/>
            <a:ext cx="2867025" cy="1708404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4662488" y="4460812"/>
            <a:ext cx="2867025" cy="1708404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8791575" y="4460812"/>
            <a:ext cx="2867025" cy="1708404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533400" y="137263"/>
            <a:ext cx="11125200" cy="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5864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8"/>
          <p:cNvSpPr>
            <a:spLocks noGrp="1"/>
          </p:cNvSpPr>
          <p:nvPr>
            <p:ph type="title" hasCustomPrompt="1"/>
          </p:nvPr>
        </p:nvSpPr>
        <p:spPr>
          <a:xfrm>
            <a:off x="658630" y="2231346"/>
            <a:ext cx="5800725" cy="916588"/>
          </a:xfrm>
          <a:prstGeom prst="rect">
            <a:avLst/>
          </a:prstGeom>
        </p:spPr>
        <p:txBody>
          <a:bodyPr/>
          <a:lstStyle>
            <a:lvl1pPr>
              <a:lnSpc>
                <a:spcPts val="3500"/>
              </a:lnSpc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658629" y="3498667"/>
            <a:ext cx="5800725" cy="5302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(18pt)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619" y="4432091"/>
            <a:ext cx="2579247" cy="2373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Date (12pt)</a:t>
            </a:r>
          </a:p>
        </p:txBody>
      </p:sp>
    </p:spTree>
    <p:extLst>
      <p:ext uri="{BB962C8B-B14F-4D97-AF65-F5344CB8AC3E}">
        <p14:creationId xmlns:p14="http://schemas.microsoft.com/office/powerpoint/2010/main" val="30040927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0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 userDrawn="1">
            <p:ph type="title"/>
          </p:nvPr>
        </p:nvSpPr>
        <p:spPr>
          <a:xfrm>
            <a:off x="533400" y="354108"/>
            <a:ext cx="11125200" cy="951611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8" name="Picture 7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4078941"/>
            <a:ext cx="2940984" cy="294098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892" y="6588073"/>
            <a:ext cx="1371600" cy="25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028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pos="734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Gre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8" name="Picture 7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821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pos="734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0866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52652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3" name="Picture 12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436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essage Take-awa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88006"/>
            <a:ext cx="7476744" cy="322262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3" name="Picture 12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12782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orient="horz" pos="226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1953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8337755" y="6414408"/>
            <a:ext cx="301604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Page</a:t>
            </a:r>
            <a:r>
              <a:rPr lang="en-US" sz="900" baseline="0" dirty="0">
                <a:latin typeface="Arial" panose="020B0604020202020204" pitchFamily="34" charset="0"/>
                <a:cs typeface="Arial" panose="020B0604020202020204" pitchFamily="34" charset="0"/>
              </a:rPr>
              <a:t> footer text  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 |  </a:t>
            </a:r>
            <a:fld id="{11B427C5-C2E3-4C10-899D-ACC0DA09E6A6}" type="slidenum">
              <a:rPr lang="en-US" sz="900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92" y="6435673"/>
            <a:ext cx="1371600" cy="25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393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66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8" userDrawn="1">
          <p15:clr>
            <a:srgbClr val="F26B43"/>
          </p15:clr>
        </p15:guide>
        <p15:guide id="2" pos="7152" userDrawn="1">
          <p15:clr>
            <a:srgbClr val="F26B43"/>
          </p15:clr>
        </p15:guide>
        <p15:guide id="3" orient="horz" pos="3864" userDrawn="1">
          <p15:clr>
            <a:srgbClr val="F26B43"/>
          </p15:clr>
        </p15:guide>
        <p15:guide id="4" orient="horz" pos="456" userDrawn="1">
          <p15:clr>
            <a:srgbClr val="F26B43"/>
          </p15:clr>
        </p15:guide>
        <p15:guide id="5" orient="horz" pos="117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>
          <a:xfrm>
            <a:off x="3092476" y="0"/>
            <a:ext cx="9137356" cy="6867234"/>
            <a:chOff x="25893" y="0"/>
            <a:chExt cx="9137356" cy="6867234"/>
          </a:xfrm>
        </p:grpSpPr>
        <p:sp>
          <p:nvSpPr>
            <p:cNvPr id="8" name="Rectangle 7"/>
            <p:cNvSpPr/>
            <p:nvPr userDrawn="1"/>
          </p:nvSpPr>
          <p:spPr>
            <a:xfrm>
              <a:off x="2685094" y="1285875"/>
              <a:ext cx="6478155" cy="55721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893" y="0"/>
              <a:ext cx="9133010" cy="6867234"/>
            </a:xfrm>
            <a:prstGeom prst="rect">
              <a:avLst/>
            </a:prstGeom>
          </p:spPr>
        </p:pic>
      </p:grp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76" y="636924"/>
            <a:ext cx="2972980" cy="5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782145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48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76" y="636924"/>
            <a:ext cx="2972980" cy="5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781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48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 txBox="1">
            <a:spLocks/>
          </p:cNvSpPr>
          <p:nvPr userDrawn="1"/>
        </p:nvSpPr>
        <p:spPr>
          <a:xfrm>
            <a:off x="8337755" y="6414408"/>
            <a:ext cx="301604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</a:t>
            </a:r>
            <a:r>
              <a:rPr lang="en-US" sz="90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footer text  </a:t>
            </a:r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|  </a:t>
            </a:r>
            <a:fld id="{11B427C5-C2E3-4C10-899D-ACC0DA09E6A6}" type="slidenum">
              <a:rPr lang="en-US" sz="9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92" y="6435673"/>
            <a:ext cx="1371600" cy="25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946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21" r:id="rId2"/>
    <p:sldLayoutId id="2147483712" r:id="rId3"/>
    <p:sldLayoutId id="2147483713" r:id="rId4"/>
    <p:sldLayoutId id="2147483714" r:id="rId5"/>
    <p:sldLayoutId id="2147483722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36" userDrawn="1">
          <p15:clr>
            <a:srgbClr val="F26B43"/>
          </p15:clr>
        </p15:guide>
        <p15:guide id="2" orient="horz" pos="456" userDrawn="1">
          <p15:clr>
            <a:srgbClr val="F26B43"/>
          </p15:clr>
        </p15:guide>
        <p15:guide id="3" pos="7344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6712" y="3168091"/>
            <a:ext cx="2972980" cy="5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12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5834" y="0"/>
            <a:ext cx="5736165" cy="6857999"/>
          </a:xfrm>
          <a:prstGeom prst="rect">
            <a:avLst/>
          </a:prstGeom>
        </p:spPr>
      </p:pic>
      <p:sp>
        <p:nvSpPr>
          <p:cNvPr id="11" name="Title 8"/>
          <p:cNvSpPr>
            <a:spLocks noGrp="1"/>
          </p:cNvSpPr>
          <p:nvPr>
            <p:ph type="title"/>
          </p:nvPr>
        </p:nvSpPr>
        <p:spPr>
          <a:xfrm>
            <a:off x="562763" y="2840945"/>
            <a:ext cx="4798688" cy="600754"/>
          </a:xfrm>
        </p:spPr>
        <p:txBody>
          <a:bodyPr/>
          <a:lstStyle/>
          <a:p>
            <a:r>
              <a:rPr lang="en-US" b="1" dirty="0"/>
              <a:t>QER - 5108</a:t>
            </a:r>
            <a:endParaRPr lang="en-US" dirty="0">
              <a:effectLst/>
            </a:endParaRPr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62764" y="3429000"/>
            <a:ext cx="8079432" cy="317501"/>
          </a:xfrm>
        </p:spPr>
        <p:txBody>
          <a:bodyPr/>
          <a:lstStyle/>
          <a:p>
            <a:pPr algn="l" fontAlgn="t"/>
            <a:r>
              <a:rPr lang="en-US" sz="16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QER: BID 141KM SF300065C004.9X - Zeta wire weld crack</a:t>
            </a:r>
            <a:br>
              <a:rPr lang="en-US" sz="16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223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4921495"/>
              </p:ext>
            </p:extLst>
          </p:nvPr>
        </p:nvGraphicFramePr>
        <p:xfrm>
          <a:off x="1005313" y="1081693"/>
          <a:ext cx="9822522" cy="48540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1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11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01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Item</a:t>
                      </a:r>
                    </a:p>
                    <a:p>
                      <a:pPr marL="0" algn="ctr" defTabSz="914400" rtl="0" eaLnBrk="1" latinLnBrk="0" hangingPunct="1"/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Traceability / identification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399">
                <a:tc>
                  <a:txBody>
                    <a:bodyPr/>
                    <a:lstStyle/>
                    <a:p>
                      <a:r>
                        <a:rPr lang="en-US" sz="2000" b="1" dirty="0"/>
                        <a:t>Project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SF300065C004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399">
                <a:tc>
                  <a:txBody>
                    <a:bodyPr/>
                    <a:lstStyle/>
                    <a:p>
                      <a:r>
                        <a:rPr lang="en-US" sz="2000" b="1" dirty="0"/>
                        <a:t>Project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BID 141KM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3060">
                <a:tc>
                  <a:txBody>
                    <a:bodyPr/>
                    <a:lstStyle/>
                    <a:p>
                      <a:r>
                        <a:rPr lang="en-US" sz="2000" b="1" dirty="0"/>
                        <a:t>Pipe section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SF300065C004.9X</a:t>
                      </a:r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399">
                <a:tc>
                  <a:txBody>
                    <a:bodyPr/>
                    <a:lstStyle/>
                    <a:p>
                      <a:r>
                        <a:rPr lang="en-US" sz="2000" b="1" dirty="0"/>
                        <a:t>ST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ST101.51896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399">
                <a:tc>
                  <a:txBody>
                    <a:bodyPr/>
                    <a:lstStyle/>
                    <a:p>
                      <a:r>
                        <a:rPr lang="en-US" sz="2000" b="1" dirty="0"/>
                        <a:t>Affected layer / equipment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>
                          <a:effectLst/>
                        </a:rPr>
                        <a:t>Spiralling</a:t>
                      </a:r>
                      <a:endParaRPr lang="en-GB" sz="20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02541">
                <a:tc>
                  <a:txBody>
                    <a:bodyPr/>
                    <a:lstStyle/>
                    <a:p>
                      <a:r>
                        <a:rPr lang="en-US" sz="2000" b="1" dirty="0"/>
                        <a:t>Length</a:t>
                      </a:r>
                      <a:r>
                        <a:rPr lang="en-US" sz="2000" b="1" baseline="0" dirty="0"/>
                        <a:t> affected</a:t>
                      </a:r>
                      <a:endParaRPr 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1) 841.8m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dirty="0"/>
                        <a:t>2) 5345.5m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3060">
                <a:tc>
                  <a:txBody>
                    <a:bodyPr/>
                    <a:lstStyle/>
                    <a:p>
                      <a:r>
                        <a:rPr lang="en-US" sz="2000" b="1" dirty="0"/>
                        <a:t>Drawing number / MP code / STA / Dimension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 Zeta </a:t>
                      </a:r>
                      <a:r>
                        <a:rPr lang="de-DE" dirty="0" err="1"/>
                        <a:t>wire</a:t>
                      </a:r>
                      <a:r>
                        <a:rPr lang="de-DE" dirty="0"/>
                        <a:t> 6.2 (MP205)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itle 7">
            <a:extLst>
              <a:ext uri="{FF2B5EF4-FFF2-40B4-BE49-F238E27FC236}">
                <a16:creationId xmlns:a16="http://schemas.microsoft.com/office/drawing/2014/main" id="{57EDE61D-85BE-47FE-ADE9-7C624E892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Pipe section / Details</a:t>
            </a:r>
          </a:p>
        </p:txBody>
      </p:sp>
    </p:spTree>
    <p:extLst>
      <p:ext uri="{BB962C8B-B14F-4D97-AF65-F5344CB8AC3E}">
        <p14:creationId xmlns:p14="http://schemas.microsoft.com/office/powerpoint/2010/main" val="871867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51A6E4E-D3A8-4EC1-BE53-9DF27CD3E17D}"/>
              </a:ext>
            </a:extLst>
          </p:cNvPr>
          <p:cNvSpPr txBox="1"/>
          <p:nvPr/>
        </p:nvSpPr>
        <p:spPr>
          <a:xfrm>
            <a:off x="278780" y="996090"/>
            <a:ext cx="11530362" cy="50860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Description :-</a:t>
            </a:r>
          </a:p>
          <a:p>
            <a:r>
              <a:rPr lang="en-US" sz="8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During the zeta spiraling process for BID 141KM SF300065C004.9X (ST10151896), weld crack was detected at length 841.8m and 5345.5m during weld inspection after it was laid on the pipe.</a:t>
            </a:r>
            <a:br>
              <a:rPr lang="en-US" sz="800" dirty="0"/>
            </a:br>
            <a:br>
              <a:rPr lang="en-US" sz="800" dirty="0"/>
            </a:br>
            <a:r>
              <a:rPr lang="en-US" sz="8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Details of affected weld are as the following:-</a:t>
            </a:r>
            <a:br>
              <a:rPr lang="en-US" sz="800" dirty="0"/>
            </a:br>
            <a:r>
              <a:rPr lang="en-US" sz="8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- Weld number : 07-20 (Weld from winding process)</a:t>
            </a:r>
            <a:br>
              <a:rPr lang="en-US" sz="800" dirty="0"/>
            </a:br>
            <a:r>
              <a:rPr lang="en-US" sz="8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- Welding machine : BS13-11</a:t>
            </a:r>
            <a:br>
              <a:rPr lang="en-US" sz="800" dirty="0"/>
            </a:br>
            <a:r>
              <a:rPr lang="en-US" sz="8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- Bobbin number : 003</a:t>
            </a:r>
            <a:br>
              <a:rPr lang="en-US" sz="800" dirty="0"/>
            </a:br>
            <a:br>
              <a:rPr lang="en-US" sz="800" dirty="0"/>
            </a:br>
            <a:r>
              <a:rPr lang="en-US" sz="8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- Weld number : 18-11 (During joint bobbin new loading)</a:t>
            </a:r>
            <a:br>
              <a:rPr lang="en-US" sz="800" dirty="0"/>
            </a:br>
            <a:r>
              <a:rPr lang="en-US" sz="8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- Welding machine : BS13-12</a:t>
            </a:r>
            <a:br>
              <a:rPr lang="en-US" sz="800" dirty="0"/>
            </a:br>
            <a:r>
              <a:rPr lang="en-US" sz="8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- Bobbin number : 010</a:t>
            </a:r>
          </a:p>
          <a:p>
            <a:endParaRPr lang="en-US" sz="1100" b="1" u="sng" dirty="0">
              <a:solidFill>
                <a:srgbClr val="22222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Open Sans" panose="020B0606030504020204" pitchFamily="34" charset="0"/>
            </a:endParaRPr>
          </a:p>
          <a:p>
            <a:r>
              <a:rPr lang="en-US" b="1" u="sng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Root Cause :- </a:t>
            </a:r>
          </a:p>
          <a:p>
            <a:r>
              <a:rPr lang="en-US" sz="8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The root cause is to be investigated.</a:t>
            </a:r>
          </a:p>
          <a:p>
            <a:endParaRPr lang="en-US" sz="1050" b="1" u="sng" dirty="0">
              <a:solidFill>
                <a:srgbClr val="08080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b="1" u="sng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Handling</a:t>
            </a:r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:-</a:t>
            </a:r>
            <a:endParaRPr lang="en-U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8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The defective weld was rejected according to DP-QCP-08DAQT001. Therefore, un-spiraling was performed to remove the defective weld.</a:t>
            </a:r>
            <a:br>
              <a:rPr lang="en-US" sz="800" dirty="0"/>
            </a:br>
            <a:br>
              <a:rPr lang="en-US" sz="800" dirty="0"/>
            </a:br>
            <a:r>
              <a:rPr lang="en-US" sz="8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1st case at length 841.8m, the affected weld is from winding process.</a:t>
            </a:r>
            <a:br>
              <a:rPr lang="en-US" sz="800" dirty="0"/>
            </a:br>
            <a:r>
              <a:rPr lang="en-US" sz="8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In addition, based on DI-IND-MET1075, the subsequent welds shall be retrieved if reachable for the test and analysis. The subsequent welds were gone through the tensile test, and the result is detailed below.</a:t>
            </a:r>
            <a:br>
              <a:rPr lang="en-US" sz="800" dirty="0"/>
            </a:br>
            <a:br>
              <a:rPr lang="en-US" sz="800" dirty="0"/>
            </a:br>
            <a:r>
              <a:rPr lang="en-US" sz="8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Tensile results for the subsequent welds:-</a:t>
            </a:r>
            <a:br>
              <a:rPr lang="en-US" sz="800" dirty="0"/>
            </a:br>
            <a:r>
              <a:rPr lang="en-US" sz="8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- Weld 06-20 (N-1) : 640.1mPa</a:t>
            </a:r>
            <a:br>
              <a:rPr lang="en-US" sz="800" dirty="0"/>
            </a:br>
            <a:r>
              <a:rPr lang="en-US" sz="8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- Weld 10-20 (N+3) : 612.9mPa</a:t>
            </a:r>
            <a:br>
              <a:rPr lang="en-US" sz="800" dirty="0"/>
            </a:br>
            <a:br>
              <a:rPr lang="en-US" sz="800" dirty="0"/>
            </a:br>
            <a:r>
              <a:rPr lang="en-US" sz="8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The minimum criteria for the tensile test are 530mPa.</a:t>
            </a:r>
            <a:br>
              <a:rPr lang="en-US" sz="800" dirty="0"/>
            </a:br>
            <a:br>
              <a:rPr lang="en-US" sz="800" dirty="0"/>
            </a:br>
            <a:r>
              <a:rPr lang="en-US" sz="8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To note that, N+1 and N+2 welds are not retrievable due to have been laid on pipe at length 614.1m and 651.8m.</a:t>
            </a:r>
            <a:br>
              <a:rPr lang="en-US" sz="800" dirty="0"/>
            </a:br>
            <a:br>
              <a:rPr lang="en-US" sz="800" dirty="0"/>
            </a:br>
            <a:r>
              <a:rPr lang="en-US" sz="8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2nd case at length 5345.5m, the affected weld is a joint bobbin new loading.</a:t>
            </a:r>
            <a:br>
              <a:rPr lang="en-US" sz="800" dirty="0"/>
            </a:br>
            <a:r>
              <a:rPr lang="en-US" sz="8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In addition, based on DI-IND-MET1075, the subsequent welds shall be retrieved if reachable for the test and analysis. The subsequent welds were gone through the tensile test, and the result is detailed below.</a:t>
            </a:r>
            <a:br>
              <a:rPr lang="en-US" sz="800" dirty="0"/>
            </a:br>
            <a:br>
              <a:rPr lang="en-US" sz="800" dirty="0"/>
            </a:br>
            <a:r>
              <a:rPr lang="en-US" sz="8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Tensile results for the subsequent welds:-</a:t>
            </a:r>
            <a:br>
              <a:rPr lang="en-US" sz="800" dirty="0"/>
            </a:br>
            <a:r>
              <a:rPr lang="en-US" sz="8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- Weld 17-11 (N-1) : 601.0mPa</a:t>
            </a:r>
            <a:br>
              <a:rPr lang="en-US" sz="800" dirty="0"/>
            </a:br>
            <a:br>
              <a:rPr lang="en-US" sz="800" dirty="0"/>
            </a:br>
            <a:r>
              <a:rPr lang="en-US" sz="8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The minimum criteria for the tensile test are 530mPa.</a:t>
            </a:r>
            <a:endParaRPr lang="en-US" sz="800" dirty="0">
              <a:effectLst/>
            </a:endParaRPr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5A1AA70D-F46C-4B5F-A682-101CB5606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 of anomaly</a:t>
            </a:r>
          </a:p>
        </p:txBody>
      </p:sp>
    </p:spTree>
    <p:extLst>
      <p:ext uri="{BB962C8B-B14F-4D97-AF65-F5344CB8AC3E}">
        <p14:creationId xmlns:p14="http://schemas.microsoft.com/office/powerpoint/2010/main" val="4157918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39F2657-C04B-4DCE-81CE-1281CB74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Zeta wire weld crack at length 841.8m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12327-636C-4753-8680-A8898364D124}"/>
              </a:ext>
            </a:extLst>
          </p:cNvPr>
          <p:cNvSpPr txBox="1"/>
          <p:nvPr/>
        </p:nvSpPr>
        <p:spPr>
          <a:xfrm>
            <a:off x="1076553" y="5900002"/>
            <a:ext cx="10105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Figure 1 </a:t>
            </a:r>
            <a:r>
              <a:rPr lang="en-US" sz="1400" dirty="0"/>
              <a:t>: </a:t>
            </a:r>
            <a:r>
              <a:rPr lang="en-US" sz="120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Zeta wire weld crack was detected at length </a:t>
            </a:r>
            <a:r>
              <a:rPr lang="en-US" sz="1200" dirty="0">
                <a:solidFill>
                  <a:srgbClr val="222222"/>
                </a:solidFill>
                <a:latin typeface="Open Sans" panose="020B0606030504020204" pitchFamily="34" charset="0"/>
              </a:rPr>
              <a:t>841.8</a:t>
            </a:r>
            <a:r>
              <a:rPr lang="en-US" sz="120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m during weld inspection after it was laid on the pipe.</a:t>
            </a:r>
            <a:endParaRPr lang="en-US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714AF6-18E3-4AC9-9798-BD80D34A2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222" y="1166070"/>
            <a:ext cx="3835555" cy="447972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9AA90133-F5D2-4733-9BEE-CAF46E338C8C}"/>
              </a:ext>
            </a:extLst>
          </p:cNvPr>
          <p:cNvSpPr/>
          <p:nvPr/>
        </p:nvSpPr>
        <p:spPr>
          <a:xfrm>
            <a:off x="4697835" y="3020036"/>
            <a:ext cx="1543574" cy="1510019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262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39F2657-C04B-4DCE-81CE-1281CB74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Photo after repaired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12327-636C-4753-8680-A8898364D124}"/>
              </a:ext>
            </a:extLst>
          </p:cNvPr>
          <p:cNvSpPr txBox="1"/>
          <p:nvPr/>
        </p:nvSpPr>
        <p:spPr>
          <a:xfrm>
            <a:off x="1160664" y="6065993"/>
            <a:ext cx="10105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Figure 2 </a:t>
            </a:r>
            <a:r>
              <a:rPr lang="en-US" sz="1400" dirty="0"/>
              <a:t>: </a:t>
            </a:r>
            <a:r>
              <a:rPr lang="en-US" sz="1400" dirty="0">
                <a:solidFill>
                  <a:srgbClr val="222222"/>
                </a:solidFill>
                <a:latin typeface="Open Sans" panose="020B0606030504020204" pitchFamily="34" charset="0"/>
              </a:rPr>
              <a:t>U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n-spiraling was performed to remove the defective weld and replaced with weld 08-10 from (BS13-12). </a:t>
            </a:r>
            <a:endParaRPr lang="en-US" sz="1400" dirty="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30F75454-4AC0-4C6E-993C-F5AF40DE78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9D012C-6852-4C69-860E-83B780ABA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5148" y="1005778"/>
            <a:ext cx="3634833" cy="484644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3241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39F2657-C04B-4DCE-81CE-1281CB74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Zeta wire weld crack at length 5345.5m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12327-636C-4753-8680-A8898364D124}"/>
              </a:ext>
            </a:extLst>
          </p:cNvPr>
          <p:cNvSpPr txBox="1"/>
          <p:nvPr/>
        </p:nvSpPr>
        <p:spPr>
          <a:xfrm>
            <a:off x="1043218" y="5965325"/>
            <a:ext cx="10105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Figure 3 </a:t>
            </a:r>
            <a:r>
              <a:rPr lang="en-US" sz="1400" dirty="0"/>
              <a:t>: </a:t>
            </a:r>
            <a:r>
              <a:rPr lang="en-US" sz="140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Zeta wire weld crack was detected at length 5345.5m during weld inspection after it was laid on the pipe.</a:t>
            </a:r>
            <a:endParaRPr lang="en-US" sz="1400" dirty="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30F75454-4AC0-4C6E-993C-F5AF40DE78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 descr="A close-up of a machine&#10;&#10;Description automatically generated with low confidence">
            <a:extLst>
              <a:ext uri="{FF2B5EF4-FFF2-40B4-BE49-F238E27FC236}">
                <a16:creationId xmlns:a16="http://schemas.microsoft.com/office/drawing/2014/main" id="{2FF70A06-7833-46DE-A1E9-366F3337F0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1143000"/>
            <a:ext cx="6096000" cy="4572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71812AB8-F9C7-4CAD-A02D-80C6202671CD}"/>
              </a:ext>
            </a:extLst>
          </p:cNvPr>
          <p:cNvSpPr/>
          <p:nvPr/>
        </p:nvSpPr>
        <p:spPr>
          <a:xfrm>
            <a:off x="6152626" y="2521590"/>
            <a:ext cx="1543574" cy="1510019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809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39F2657-C04B-4DCE-81CE-1281CB74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Photo after repaired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30F75454-4AC0-4C6E-993C-F5AF40DE78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07F4D4-9453-4C6F-9EB2-03946CCBFE0C}"/>
              </a:ext>
            </a:extLst>
          </p:cNvPr>
          <p:cNvSpPr txBox="1"/>
          <p:nvPr/>
        </p:nvSpPr>
        <p:spPr>
          <a:xfrm>
            <a:off x="1101941" y="5811436"/>
            <a:ext cx="10105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Figure 2 </a:t>
            </a:r>
            <a:r>
              <a:rPr lang="en-US" sz="1400" dirty="0"/>
              <a:t>: </a:t>
            </a:r>
            <a:r>
              <a:rPr lang="en-US" sz="1400" dirty="0">
                <a:solidFill>
                  <a:srgbClr val="222222"/>
                </a:solidFill>
                <a:latin typeface="Open Sans" panose="020B0606030504020204" pitchFamily="34" charset="0"/>
              </a:rPr>
              <a:t>U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n-spiraling was performed to remove the defective weld and replaced with weld 22-11 from (BS13-12). </a:t>
            </a:r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71169A-28DA-4C5E-9075-32ABAEA777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1066055"/>
            <a:ext cx="6096000" cy="4572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25480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5834" y="0"/>
            <a:ext cx="573616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1809" y="2794000"/>
            <a:ext cx="4958291" cy="1079500"/>
          </a:xfrm>
        </p:spPr>
        <p:txBody>
          <a:bodyPr/>
          <a:lstStyle/>
          <a:p>
            <a:pPr algn="ctr"/>
            <a:br>
              <a:rPr lang="en-US" sz="4800" b="1" dirty="0"/>
            </a:br>
            <a:r>
              <a:rPr lang="en-US" sz="48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86797236"/>
      </p:ext>
    </p:extLst>
  </p:cSld>
  <p:clrMapOvr>
    <a:masterClrMapping/>
  </p:clrMapOvr>
</p:sld>
</file>

<file path=ppt/theme/theme1.xml><?xml version="1.0" encoding="utf-8"?>
<a:theme xmlns:a="http://schemas.openxmlformats.org/drawingml/2006/main" name="Text">
  <a:themeElements>
    <a:clrScheme name="Custom 2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FFCD00"/>
      </a:accent5>
      <a:accent6>
        <a:srgbClr val="3A913F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72A50781-4C99-4C03-83CD-FA397A9A26E8}"/>
    </a:ext>
  </a:extLst>
</a:theme>
</file>

<file path=ppt/theme/theme2.xml><?xml version="1.0" encoding="utf-8"?>
<a:theme xmlns:a="http://schemas.openxmlformats.org/drawingml/2006/main" name="Cover ">
  <a:themeElements>
    <a:clrScheme name="Custom 1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D0D0CE"/>
      </a:accent5>
      <a:accent6>
        <a:srgbClr val="FFCD00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264E4DFC-9410-47E4-9B7F-A5442DBCB59B}"/>
    </a:ext>
  </a:extLst>
</a:theme>
</file>

<file path=ppt/theme/theme3.xml><?xml version="1.0" encoding="utf-8"?>
<a:theme xmlns:a="http://schemas.openxmlformats.org/drawingml/2006/main" name="Cover and Photo">
  <a:themeElements>
    <a:clrScheme name="Custom 1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D0D0CE"/>
      </a:accent5>
      <a:accent6>
        <a:srgbClr val="FFCD00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9AFBA3D3-A0A6-4536-B45E-40FDC3D467A0}"/>
    </a:ext>
  </a:extLst>
</a:theme>
</file>

<file path=ppt/theme/theme4.xml><?xml version="1.0" encoding="utf-8"?>
<a:theme xmlns:a="http://schemas.openxmlformats.org/drawingml/2006/main" name="Agenda and Section">
  <a:themeElements>
    <a:clrScheme name="Custom 2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FFCD00"/>
      </a:accent5>
      <a:accent6>
        <a:srgbClr val="3A913F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EB1971BE-F4B0-49A0-9372-405B1B105A4E}"/>
    </a:ext>
  </a:extLst>
</a:theme>
</file>

<file path=ppt/theme/theme5.xml><?xml version="1.0" encoding="utf-8"?>
<a:theme xmlns:a="http://schemas.openxmlformats.org/drawingml/2006/main" name="Closing Slide Master">
  <a:themeElements>
    <a:clrScheme name="Custom 1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D0D0CE"/>
      </a:accent5>
      <a:accent6>
        <a:srgbClr val="FFCD00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1A4948F9-4CBF-4DD8-A123-ADDEB5543F6D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Words>519</Words>
  <Application>Microsoft Office PowerPoint</Application>
  <PresentationFormat>Widescreen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Calibri</vt:lpstr>
      <vt:lpstr>Open Sans</vt:lpstr>
      <vt:lpstr>Webdings</vt:lpstr>
      <vt:lpstr>Text</vt:lpstr>
      <vt:lpstr>Cover </vt:lpstr>
      <vt:lpstr>Cover and Photo</vt:lpstr>
      <vt:lpstr>Agenda and Section</vt:lpstr>
      <vt:lpstr>Closing Slide Master</vt:lpstr>
      <vt:lpstr>QER - 5108</vt:lpstr>
      <vt:lpstr>Pipe section / Details</vt:lpstr>
      <vt:lpstr>Overview of anomaly</vt:lpstr>
      <vt:lpstr>Zeta wire weld crack at length 841.8m</vt:lpstr>
      <vt:lpstr>Photo after repaired</vt:lpstr>
      <vt:lpstr>Zeta wire weld crack at length 5345.5m</vt:lpstr>
      <vt:lpstr>Photo after repaired</vt:lpstr>
      <vt:lpstr>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Cover title (32pt)</dc:title>
  <dc:creator>Sandy Enoch</dc:creator>
  <cp:lastModifiedBy>Muhamad Razif Abdullah</cp:lastModifiedBy>
  <cp:revision>542</cp:revision>
  <dcterms:created xsi:type="dcterms:W3CDTF">2017-01-06T20:47:07Z</dcterms:created>
  <dcterms:modified xsi:type="dcterms:W3CDTF">2023-06-04T18:23:23Z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998a045-e53d-4dce-a8d7-f41d40d412ce_Enabled">
    <vt:lpwstr>True</vt:lpwstr>
  </property>
  <property fmtid="{D5CDD505-2E9C-101B-9397-08002B2CF9AE}" pid="3" name="MSIP_Label_c998a045-e53d-4dce-a8d7-f41d40d412ce_SiteId">
    <vt:lpwstr>0804c951-93a0-405d-80e4-fa87c7551d6a</vt:lpwstr>
  </property>
  <property fmtid="{D5CDD505-2E9C-101B-9397-08002B2CF9AE}" pid="4" name="MSIP_Label_c998a045-e53d-4dce-a8d7-f41d40d412ce_Owner">
    <vt:lpwstr>muhamadrazif.abdullah@technipfmc.com</vt:lpwstr>
  </property>
  <property fmtid="{D5CDD505-2E9C-101B-9397-08002B2CF9AE}" pid="5" name="MSIP_Label_c998a045-e53d-4dce-a8d7-f41d40d412ce_SetDate">
    <vt:lpwstr>2021-06-17T02:46:57.0083478Z</vt:lpwstr>
  </property>
  <property fmtid="{D5CDD505-2E9C-101B-9397-08002B2CF9AE}" pid="6" name="MSIP_Label_c998a045-e53d-4dce-a8d7-f41d40d412ce_Name">
    <vt:lpwstr>General</vt:lpwstr>
  </property>
  <property fmtid="{D5CDD505-2E9C-101B-9397-08002B2CF9AE}" pid="7" name="MSIP_Label_c998a045-e53d-4dce-a8d7-f41d40d412ce_Application">
    <vt:lpwstr>Microsoft Azure Information Protection</vt:lpwstr>
  </property>
  <property fmtid="{D5CDD505-2E9C-101B-9397-08002B2CF9AE}" pid="8" name="MSIP_Label_c998a045-e53d-4dce-a8d7-f41d40d412ce_Extended_MSFT_Method">
    <vt:lpwstr>Automatic</vt:lpwstr>
  </property>
  <property fmtid="{D5CDD505-2E9C-101B-9397-08002B2CF9AE}" pid="9" name="MSIP_Label_3b48b937-0ae3-46f5-b32e-f3232b5be847_Enabled">
    <vt:lpwstr>True</vt:lpwstr>
  </property>
  <property fmtid="{D5CDD505-2E9C-101B-9397-08002B2CF9AE}" pid="10" name="MSIP_Label_3b48b937-0ae3-46f5-b32e-f3232b5be847_SiteId">
    <vt:lpwstr>9179d01a-e94c-4488-b5f0-4554bc474f8c</vt:lpwstr>
  </property>
  <property fmtid="{D5CDD505-2E9C-101B-9397-08002B2CF9AE}" pid="11" name="MSIP_Label_3b48b937-0ae3-46f5-b32e-f3232b5be847_Owner">
    <vt:lpwstr>muizuddin.mohdnoh@technipfmc.com</vt:lpwstr>
  </property>
  <property fmtid="{D5CDD505-2E9C-101B-9397-08002B2CF9AE}" pid="12" name="MSIP_Label_3b48b937-0ae3-46f5-b32e-f3232b5be847_SetDate">
    <vt:lpwstr>2019-07-26T17:37:22.3670000Z</vt:lpwstr>
  </property>
  <property fmtid="{D5CDD505-2E9C-101B-9397-08002B2CF9AE}" pid="13" name="MSIP_Label_3b48b937-0ae3-46f5-b32e-f3232b5be847_Name">
    <vt:lpwstr>General</vt:lpwstr>
  </property>
  <property fmtid="{D5CDD505-2E9C-101B-9397-08002B2CF9AE}" pid="14" name="MSIP_Label_3b48b937-0ae3-46f5-b32e-f3232b5be847_Application">
    <vt:lpwstr>Microsoft Azure Information Protection</vt:lpwstr>
  </property>
  <property fmtid="{D5CDD505-2E9C-101B-9397-08002B2CF9AE}" pid="15" name="MSIP_Label_3b48b937-0ae3-46f5-b32e-f3232b5be847_Extended_MSFT_Method">
    <vt:lpwstr>Automatic</vt:lpwstr>
  </property>
  <property fmtid="{D5CDD505-2E9C-101B-9397-08002B2CF9AE}" pid="16" name="MSIP_Label_8caabacf-b917-4a45-9a5f-ed3a53d2eeb7_Enabled">
    <vt:lpwstr>true</vt:lpwstr>
  </property>
  <property fmtid="{D5CDD505-2E9C-101B-9397-08002B2CF9AE}" pid="17" name="MSIP_Label_8caabacf-b917-4a45-9a5f-ed3a53d2eeb7_SetDate">
    <vt:lpwstr>2021-12-20T23:04:29Z</vt:lpwstr>
  </property>
  <property fmtid="{D5CDD505-2E9C-101B-9397-08002B2CF9AE}" pid="18" name="MSIP_Label_8caabacf-b917-4a45-9a5f-ed3a53d2eeb7_Method">
    <vt:lpwstr>Standard</vt:lpwstr>
  </property>
  <property fmtid="{D5CDD505-2E9C-101B-9397-08002B2CF9AE}" pid="19" name="MSIP_Label_8caabacf-b917-4a45-9a5f-ed3a53d2eeb7_Name">
    <vt:lpwstr>Anyone - No Protection</vt:lpwstr>
  </property>
  <property fmtid="{D5CDD505-2E9C-101B-9397-08002B2CF9AE}" pid="20" name="MSIP_Label_8caabacf-b917-4a45-9a5f-ed3a53d2eeb7_SiteId">
    <vt:lpwstr>0804c951-93a0-405d-80e4-fa87c7551d6a</vt:lpwstr>
  </property>
  <property fmtid="{D5CDD505-2E9C-101B-9397-08002B2CF9AE}" pid="21" name="MSIP_Label_8caabacf-b917-4a45-9a5f-ed3a53d2eeb7_ContentBits">
    <vt:lpwstr>0</vt:lpwstr>
  </property>
</Properties>
</file>